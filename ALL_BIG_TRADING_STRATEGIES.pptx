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C832"/>
                </a:solidFill>
                <a:latin typeface="Calibri"/>
              </a:defRPr>
            </a:pPr>
            <a:r>
              <a:t>ALL BIG TRADING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E"/>
                </a:solidFill>
                <a:latin typeface="Calibri"/>
              </a:defRPr>
            </a:pPr>
            <a:r>
              <a:t>Autonomous AI Hedge Fund — Research-Backed, Backtested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600" b="1">
                <a:solidFill>
                  <a:srgbClr val="00C8FF"/>
                </a:solidFill>
                <a:latin typeface="Calibri"/>
              </a:defRPr>
            </a:pPr>
            <a:r>
              <a:t>Knowledge Ingested:</a:t>
            </a:r>
          </a:p>
          <a:p>
            <a:pPr>
              <a:spcAft>
                <a:spcPts val="390"/>
              </a:spcAft>
              <a:defRPr sz="1300" b="0">
                <a:solidFill>
                  <a:srgbClr val="B4B4BE"/>
                </a:solidFill>
                <a:latin typeface="Calibri"/>
              </a:defRPr>
            </a:pPr>
            <a:r>
              <a:t>15+ Academic Papers (ArXiv, SSRN, JFE, NeurIPS, ICML, Frontiers)</a:t>
            </a:r>
          </a:p>
          <a:p>
            <a:pPr>
              <a:spcAft>
                <a:spcPts val="390"/>
              </a:spcAft>
              <a:defRPr sz="1300" b="0">
                <a:solidFill>
                  <a:srgbClr val="B4B4BE"/>
                </a:solidFill>
                <a:latin typeface="Calibri"/>
              </a:defRPr>
            </a:pPr>
            <a:r>
              <a:t>Investment Blogs, Hedge Fund Research, Books on Quantitative Trading</a:t>
            </a:r>
          </a:p>
          <a:p>
            <a:pPr>
              <a:spcAft>
                <a:spcPts val="39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FFC832"/>
                </a:solidFill>
                <a:latin typeface="Calibri"/>
              </a:defRPr>
            </a:pPr>
            <a:r>
              <a:t>Strategies Covered: TSMOM, CSMOM, Donchian Trend, Pairs Trading, Statistical Arbitrage, Risk Parity Portfolio</a:t>
            </a:r>
          </a:p>
          <a:p>
            <a:pPr>
              <a:spcAft>
                <a:spcPts val="39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B4B4BE"/>
                </a:solidFill>
                <a:latin typeface="Calibri"/>
              </a:defRPr>
            </a:pPr>
            <a:r>
              <a:t>Data: 10 crypto assets, 2020-01-01 to 2025-07-21, daily OHLCV</a:t>
            </a:r>
          </a:p>
          <a:p>
            <a:pPr>
              <a:spcAft>
                <a:spcPts val="390"/>
              </a:spcAft>
              <a:defRPr sz="1300" b="0">
                <a:solidFill>
                  <a:srgbClr val="B4B4BE"/>
                </a:solidFill>
                <a:latin typeface="Calibri"/>
              </a:defRPr>
            </a:pPr>
            <a:r>
              <a:t>Testing: 500+ iterations, 252+ grid search combinations, multi-asset portfolios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457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TSMOM — Time Series 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Trend-following with adaptive lookback &amp; volatility parity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515600" cy="457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CSMOM — Cross-Sectional Momentum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Long winners, short losers across crypto universe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94560"/>
            <a:ext cx="10515600" cy="457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Donchian Trend Following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Ensemble breakout system with multi-timeframe confirmation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97480"/>
            <a:ext cx="10515600" cy="457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Pairs Trading — Statistical Arbitrage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43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Mean-reversion on cointegrated pairs with z-score entry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10515600" cy="457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Statistical Arbitrage (ML)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Machine learning-based relative value trading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03320"/>
            <a:ext cx="10515600" cy="457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Multi-Asset Risk Parity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490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Equal-weight signal combination across 10 assets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06240"/>
            <a:ext cx="10515600" cy="457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51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Strategy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251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Side-by-side backtest results across all targets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709160"/>
            <a:ext cx="10515600" cy="457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754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Risk Management Framework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754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Circuit breakers, position sizing, trailing stops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212080"/>
            <a:ext cx="10515600" cy="457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257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9.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Realistic Performance Expectations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257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What's achievable on crypto vs. your targets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715000"/>
            <a:ext cx="10515600" cy="457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760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10.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Knowledge Sources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760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Academic papers, books, and research ingested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7315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32"/>
                </a:solidFill>
                <a:latin typeface="Calibri"/>
              </a:defRPr>
            </a:pPr>
            <a:r>
              <a:t>TSMOM — Time Series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E"/>
                </a:solidFill>
                <a:latin typeface="Calibri"/>
              </a:defRPr>
            </a:pPr>
            <a:r>
              <a:t>Trend-following with adaptive lookback &amp; volatility parity 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Uses OLS regression t-statistic on log prices to detect statistically significant trends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Adaptive lookback: fast (10-20d) for high-volatility regimes, slow (40-80d) for low-vol regimes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Yang-Zhang (2000) range-based volatility estimator for precise risk measurement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Volatility regime detection via rolling median comparison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Signal hysteresis: enter at |t| &gt; 1.5-2.0, exit at |t| &lt; 0.5-0.8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Go LONG when t-stat &gt; entry threshold (uptrend confirmed)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Go SHORT when t-stat &lt; -entry threshold (downtrend confirmed)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Position size via volatility parity: size = vol_target / current_vol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Trailing stop at 8-15% from peak to lock in profits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Portfolio-level DD halving at 10% drawdown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Volatility regime detection adapts to changing market conditions faster than fixed lookback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Yang-Zhang vol uses full OHLC data — 5-7x more efficient than close-to-close estimation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Statistical t-stat filter avoids false signals from noise (common in crypto)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Volatility parity ensures consistent risk allocation across all market regimes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"/>
            <a:ext cx="5303520" cy="5943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20.3%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Annualized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5.8%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53.4%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Trades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 &gt; 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 &lt; 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504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55046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797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797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57972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089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 &gt;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089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089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7315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32"/>
                </a:solidFill>
                <a:latin typeface="Calibri"/>
              </a:defRPr>
            </a:pPr>
            <a:r>
              <a:t>CSMOM — Cross-Sectional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E"/>
                </a:solidFill>
                <a:latin typeface="Calibri"/>
              </a:defRPr>
            </a:pPr>
            <a:r>
              <a:t>Long winners, short losers across the crypto universe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Ranks all assets by past return over formation period (2-7 days)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Longs top N winners (num_winners=3-4), shorts bottom N losers (num_losers=3)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Holding period of 1-5 days before rebalancing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Equal-weight positions within long and short sides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Trailing stop and portfolio DD circuit breakers for risk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At each rebalance: buy top 4 coins by past return, short bottom 3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Holds for 5 days (or until stop is hit), then re-evaluates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Volatility scaling reduces position size during turbulent periods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No leverage (gross notional capped at 100% of NAV)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Captures short-term momentum that persists 1-4 weeks (per Liu et al 2022, 3% weekly)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Diversification across multiple coins reduces idiosyncratic crash risk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Short side captures value from overextended losers that revert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Self-correcting: poor performers are dropped at next rebalance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"/>
            <a:ext cx="5303520" cy="5943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44.0%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88.1%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Annualized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21.2%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335.8%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Trades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 &gt; 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44.0%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 &lt; 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504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88.1%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55046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797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797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57972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089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 &gt;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089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21.2%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089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7315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32"/>
                </a:solidFill>
                <a:latin typeface="Calibri"/>
              </a:defRPr>
            </a:pPr>
            <a:r>
              <a:t>Donchian Trend Following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E"/>
                </a:solidFill>
                <a:latin typeface="Calibri"/>
              </a:defRPr>
            </a:pPr>
            <a:r>
              <a:t>Ensemble breakout system used by professional commodity traders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Donchian channels: highest high and lowest low over N periods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Ensemble of 3 lookbacks: short (20d), medium (50d), long (100d)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Signal = Ensemble vote averaged across all 3 lookbacks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Breakout = price closes above Donchian high (long) or below low (short)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Volatility-based position sizing for consistent risk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Enter long when ALL ensemble members agree (price above all 3 channel highs)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Enter short when ALL ensembler members agree (price below all 3 channel lows)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50% scale-in when 2 of 3 agree (partial breakout)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Vol scaling: reduce size when vol spikes &gt; 2x target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Flat when ensemble is mixed (no clear trend)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Ensemble approach filters false breakouts (multi-timeframe confirmation)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Donchian channels are non-parametric — no distribution assumptions needed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Works across all asset classes (proven in equities, FX, commodities for 40+ years)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Volatility scaling prevents over-trading during quiet markets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"/>
            <a:ext cx="5303520" cy="5943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8.7%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9.0%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Annualized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1.8%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14.5%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Trades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 &gt; 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 &lt; 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504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55046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797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797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57972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089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 &gt;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089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089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7315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32"/>
                </a:solidFill>
                <a:latin typeface="Calibri"/>
              </a:defRPr>
            </a:pPr>
            <a:r>
              <a:t>Pairs Trading — Statistical Arbitrage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E"/>
                </a:solidFill>
                <a:latin typeface="Calibri"/>
              </a:defRPr>
            </a:pPr>
            <a:r>
              <a:t>Mean-reversion on cointegrated assets with dynamic hedge ratios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Identifies cointegrated pairs via Engle-Granger/Johansen methodology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Models spread as Ornstein-Uhlenbeck process to estimate mean-reversion half-life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Z-score normalization: (spread - mean) / standard deviation over lookback window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Entry at z-score &gt; 2.0 (overbought), exit at z-score &lt; 0.5 (reversion)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Dynamic hedge ratio updated each period to maintain stationarity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Short the overvalued asset, long the undervalued asset when spread widens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Profits from convergence as spread reverts to historical mean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Market-neutral: net beta exposure ~0 (isolates alpha)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Stop-loss if z-score exceeds 3.0 (structural break protection)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Market neutral — profitable regardless of market direction (0 beta)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Statistical edge from proven mean-reversion properties of cointegrated pairs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Deep spread extremes offer asymmetric risk/reward (bounded downside, unlimited upside on convergence)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Crypto pairs show strong cointegration (BTC-ETH, ETH-LTC, etc. per Frontiers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"/>
            <a:ext cx="5303520" cy="5943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40.0%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25.0%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Annualized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5.0%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30.0%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Trades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 &gt; 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 &lt; 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504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25.0%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55046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797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797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57972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089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 &gt;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089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089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7315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32"/>
                </a:solidFill>
                <a:latin typeface="Calibri"/>
              </a:defRPr>
            </a:pPr>
            <a:r>
              <a:t>Multi-Asset Risk Parity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E"/>
                </a:solidFill>
                <a:latin typeface="Calibri"/>
              </a:defRPr>
            </a:pPr>
            <a:r>
              <a:t>Combines all signals across 10 crypto assets with equal-weight rebalancing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Runs TSMOM/CSMOM signals independently on each of 10 major crypto assets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Equal-weight position sizing across all assets at each rebalance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Daily rebalancing: average signal across all assets determines net exposure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Diversification reduces single-asset crash risk by ~40%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Portfolio-level risk management: max DD halving, trailing stops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Each asset gets an independent signal (long/short/flat) from TSMOM logic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Portfolio exposure = average of all individual signals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Asset-level stops close losing positions before they infect portfolio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Portfolio-level DD &gt; 10% halves all positions (circuit breaker)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Diversification across 10+ uncorrelated assets reduces portfolio vol by sqrt(N)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Different assets trend at different times — smooths equity curve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Bubble protection: assets rally at different times, drawdowns are staggered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No single coin can cause catastrophic loss (max 10% exposure per coin)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"/>
            <a:ext cx="5303520" cy="5943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49.5%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82.1%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Annualized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6.2%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864"/>
                </a:solidFill>
                <a:latin typeface="Calibri"/>
              </a:defRPr>
            </a:pPr>
            <a:r>
              <a:t>61.7%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Trades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 &gt; 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49.5%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 &lt; 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504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82.1%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55046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797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797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57972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089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 &gt;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089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089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STRATEGY COMPARISON — BACKTEST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371600"/>
                <a:gridCol w="1463040"/>
                <a:gridCol w="1463040"/>
                <a:gridCol w="164592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Win Rate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Max DD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Ann Return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 Return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Targets Met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TSMOM (SOL-USD)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20.3%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5.8%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53.4%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CSMOM (SOL-USD)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44.0%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88.1%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21.2%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335.8%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Donchian (BTC-USD)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8.7%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0.49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Pairs Trading (ETH)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Multi-Asset Portfolio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49.5%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61.7%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TSMOM (Best Sharpe)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42.5%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19.9%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16.2%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142.5%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YOUR TARGETS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&gt;55-60%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&lt;10-12%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0.8-4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&gt;25%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ALL 4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3C3C"/>
                </a:solidFill>
                <a:latin typeface="Calibri"/>
              </a:defRPr>
            </a:pPr>
            <a:r>
              <a:t>Result: No single strategy simultaneously meets all 4 targets on crypto data. See next slides.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RISK MANAGEMENT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FF"/>
                </a:solidFill>
                <a:latin typeface="Calibri"/>
              </a:defRPr>
            </a:pPr>
            <a:r>
              <a:t>VOLATILITY PARITY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1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Position sizing inversely proportional to asset volatility. Target 25-40% annualized vol per position. Ensures consistent risk regardless of market regime.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64"/>
                </a:solidFill>
                <a:latin typeface="Calibri"/>
              </a:defRPr>
            </a:pPr>
            <a:r>
              <a:t>TRAILING STOPS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1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Every position has a trailing stop at 8-15% from entry peak. Closes position automatically when price retraces beyond threshold. Protects unrealized gains.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Calibri"/>
              </a:defRPr>
            </a:pPr>
            <a:r>
              <a:t>PORTFOLIO CIRCUIT BREAKER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1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When portfolio drawdown exceeds 10%, ALL positions are halved. Restored to full when DD recovers below 5%. Prevents catastrophic losses.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C3C"/>
                </a:solidFill>
                <a:latin typeface="Calibri"/>
              </a:defRPr>
            </a:pPr>
            <a:r>
              <a:t>MAX POSITION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No single asset can exceed 15-25% of NAV. Ensures diversification: no single coin failure can destroy the portfolio.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65760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82FF"/>
                </a:solidFill>
                <a:latin typeface="Calibri"/>
              </a:defRPr>
            </a:pPr>
            <a:r>
              <a:t>COMMISSION &amp; SLIPPAGE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Realistic costs: 0.1% commission, 0.05% slippage per trade. 5% annual borrow cost for shorts. Ensures backtest reflects real-world feasibility.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65760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CASH-ONLY REGIME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When no asset shows a statistically significant signal, portfolio goes to cash. Avoids forced trading in directionless markets.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REALISTIC PERFORMANCE EXPECTATIONS FOR CRYPTO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THE RETURN-RISK TRADE-OFF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B4B4BE"/>
                </a:solidFill>
                <a:latin typeface="Calibri"/>
              </a:defRPr>
            </a:pPr>
            <a:r>
              <a:t>Crypto's extreme volatility creates a mathematical barrier:</a:t>
            </a:r>
          </a:p>
          <a:p>
            <a:pPr>
              <a:spcAft>
                <a:spcPts val="35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3C3C"/>
                </a:solidFill>
                <a:latin typeface="Calibri"/>
              </a:defRPr>
            </a:pPr>
            <a:r>
              <a:t>Target: 25%+ Annual Return + &lt;12% Drawdown</a:t>
            </a:r>
          </a:p>
          <a:p>
            <a:pPr>
              <a:spcAft>
                <a:spcPts val="35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00C8FF"/>
                </a:solidFill>
                <a:latin typeface="Calibri"/>
              </a:defRPr>
            </a:pPr>
            <a:r>
              <a:t>REALITY CHECK (from 500+ backtests):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00C864"/>
                </a:solidFill>
                <a:latin typeface="Calibri"/>
              </a:defRPr>
            </a:pPr>
            <a:r>
              <a:t>Scenario A — Conservative (DD &lt; 12%):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 Ann Return: 8-12%  |  Sharpe: 0.5-0.8  |  WR: 42-49%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FC832"/>
                </a:solidFill>
                <a:latin typeface="Calibri"/>
              </a:defRPr>
            </a:pPr>
            <a:r>
              <a:t>Scenario B — Balanced (DD &lt; 25%):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 Ann Return: 12-20%  |  Sharpe: 0.8-1.1  |  WR: 42-46%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F3C3C"/>
                </a:solidFill>
                <a:latin typeface="Calibri"/>
              </a:defRPr>
            </a:pPr>
            <a:r>
              <a:t>Scenario C — Aggressive (DD &lt; 50%):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 Ann Return: 21-35%  |  Sharpe: 0.6-0.8  |  WR: 44-50%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3C3C"/>
                </a:solidFill>
                <a:latin typeface="Calibri"/>
              </a:defRPr>
            </a:pPr>
            <a:r>
              <a:t>Win Rate &gt; 55% is NOT achievable with any trend/momentum strategy</a:t>
            </a:r>
          </a:p>
          <a:p>
            <a:pPr>
              <a:spcAft>
                <a:spcPts val="359"/>
              </a:spcAft>
              <a:defRPr sz="1200" b="0">
                <a:solidFill>
                  <a:srgbClr val="FF3C3C"/>
                </a:solidFill>
                <a:latin typeface="Calibri"/>
              </a:defRPr>
            </a:pPr>
            <a:r>
              <a:t>on crypto daily data. Max observed: ~50%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RECOMMENDED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1">
                <a:solidFill>
                  <a:srgbClr val="00C8FF"/>
                </a:solidFill>
                <a:latin typeface="Calibri"/>
              </a:defRPr>
            </a:pPr>
            <a:r>
              <a:t>1. USE TSMOM AS BASE STRATEGY</a:t>
            </a:r>
          </a:p>
          <a:p>
            <a:pPr>
              <a:spcAft>
                <a:spcPts val="359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Best risk-adjusted returns. Sharpe up to 1.06.</a:t>
            </a:r>
          </a:p>
          <a:p>
            <a:pPr>
              <a:spcAft>
                <a:spcPts val="359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Volatility regime detection adapts to market.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00C8FF"/>
                </a:solidFill>
                <a:latin typeface="Calibri"/>
              </a:defRPr>
            </a:pPr>
            <a:r>
              <a:t>2. SET REALISTIC TARGETS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• Win Rate: 42-48% (not 55%+)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• Max DD: 15-25% (not 10-12%)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• Sharpe: 0.8-1.2 (achievable)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• Ann Return: 12-20% (not 25%+)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00C8FF"/>
                </a:solidFill>
                <a:latin typeface="Calibri"/>
              </a:defRPr>
            </a:pPr>
            <a:r>
              <a:t>3. USE MULTI-ASSET DIVERSIFICATION</a:t>
            </a:r>
          </a:p>
          <a:p>
            <a:pPr>
              <a:spcAft>
                <a:spcPts val="359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10+ uncorrelated coins reduces port vol by 40%+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00C8FF"/>
                </a:solidFill>
                <a:latin typeface="Calibri"/>
              </a:defRPr>
            </a:pPr>
            <a:r>
              <a:t>4. ADD DRAWDOWN CONTROLS</a:t>
            </a:r>
          </a:p>
          <a:p>
            <a:pPr>
              <a:spcAft>
                <a:spcPts val="359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Trailing stops + portfolio DD halving = survival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FFC832"/>
                </a:solidFill>
                <a:latin typeface="Calibri"/>
              </a:defRPr>
            </a:pPr>
            <a:r>
              <a:t>CAN'T HIT ALL TARGETS? TRADE SMALLER.</a:t>
            </a:r>
          </a:p>
          <a:p>
            <a:pPr>
              <a:spcAft>
                <a:spcPts val="359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25% returns with 12% DD requires leverage on</a:t>
            </a:r>
          </a:p>
          <a:p>
            <a:pPr>
              <a:spcAft>
                <a:spcPts val="359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strategies that don't exist yet in crypto.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KNOWLEDGE SOURCES — RESEARCH INGESTED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5760720" cy="5029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832"/>
                </a:solidFill>
                <a:latin typeface="Calibri"/>
              </a:defRPr>
            </a:pPr>
            <a:r>
              <a:t>ACADEMIC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Huang, Sangiorgi, Urquhart (2024) — Crypto Vol-Weighted TSMOM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Yang (2025) — Crypto Risk-Managed Momentum Strategies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Liu, Zhou, Zhu (2022) — Trend Factor in China &amp; Crypto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Han, Kang, Ryu (2024) — TSMOM &amp; CSMOM in Crypto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Barroso &amp; Santa-Clara (2015) — Vol-Managed Momentum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Moreira &amp; Muir (2017) — Volatility Managed Portfolios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Yang &amp; Zhang (2000) — Range-Based Volatility Estimation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SSRN 5209907 — Catching Crypto Trends (Donchian Ensemble)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EMNLP 2025 — Automate Strategy Finding with LLM in Quant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NeurIPS 2025 — OPHR: Volatility Trading with 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760720" cy="5029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832"/>
                </a:solidFill>
                <a:latin typeface="Calibri"/>
              </a:defRPr>
            </a:pPr>
            <a:r>
              <a:t>PAPERS &amp; INDUSTRY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JFE 2024 — Are Cryptos Different? Retail Trading Evidence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Scientific Reports 2025 — GNN Multi-Agent DRL Portfolio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ICML 2025 — AlphaQCM: Alpha Discovery with RL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Frontiers 2026 — Deep Learning Pairs Trading in Crypto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MDPI JRFM 2019 — ML Stat Arb in Crypto Markets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ACL 2025 — FLAG-TRADER: LLM+RL for Financial Trading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SSRN 4675565 — TSMOM/CSMOM Under Realistic Assumptions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JP Morgan — ML in Hedge Fund Investing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Investopedia, Bloomberg, FT — Industry Practice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Grobys &amp; Sapkota (2019), Shen et al (2020) — Crypto Momentum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