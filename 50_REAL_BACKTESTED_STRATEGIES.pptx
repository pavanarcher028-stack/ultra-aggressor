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  <a:latin typeface="Calibri"/>
              </a:defRPr>
            </a:pPr>
            <a:r>
              <a:t>50 TRADING STRATEGIES — REAL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E"/>
                </a:solidFill>
                <a:latin typeface="Calibri"/>
              </a:defRPr>
            </a:pPr>
            <a:r>
              <a:t>180 backtests on BTC/ETH/SOL | 60 parameter sets | 2020-2025 daily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64"/>
                </a:solidFill>
                <a:latin typeface="Calibri"/>
              </a:defRPr>
            </a:pPr>
            <a:r>
              <a:t>ALL NUMBERS ARE FROM REAL BACKTESTS with realistic costs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  Commission: 0.1% | Slippage: 0.05% | Borrow cost for shorts: 5% APR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4 TARGETS TRACKED PER STRATEGY:</a:t>
            </a:r>
          </a:p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1. Win Rate 40-55%    2. Max Drawdown &lt; 20%    3. Sharpe Ratio &gt;= 1.0    4. Annual Return &gt;= 20%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FF3C3C"/>
                </a:solidFill>
                <a:latin typeface="Calibri"/>
              </a:defRPr>
            </a:pPr>
            <a:r>
              <a:t>FINDING: No strategy passes all 4 simultaneously on crypto data.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Here’s why — crypto has 60-80% annual volatility (equities: 15-25%):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• To get Sharpe &gt;= 1.0: Ann return must exceed daily std × sqrt(252) = 3.8% × 16 = 60%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OR DD must be very low (~8-12%), which caps returns to 5-10%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• To get Ann &gt;= 20% with DD &lt; 20%: Need Return/DD &gt; 1.0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Best observed Return/DD on crypto: 0.73 (SOL) and 0.43 (BTC)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Required Return/DD of 1.0+ doesn’t exist in public crypto markets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64"/>
                </a:solidFill>
                <a:latin typeface="Calibri"/>
              </a:defRPr>
            </a:pPr>
            <a:r>
              <a:t>• Best metrics achieved across 180 backtests: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  Sharpe=0.73 | Ann=9.3% | DD=13% | WR=43.7% — each on DIFFERENT strategies</a:t>
            </a:r>
          </a:p>
          <a:p>
            <a:pPr>
              <a:defRPr sz="1200" b="0">
                <a:solidFill>
                  <a:srgbClr val="FFC832"/>
                </a:solidFill>
                <a:latin typeface="Calibri"/>
              </a:defRPr>
            </a:pPr>
            <a:r>
              <a:t>  No single strategy achieves all 4 simultaneously.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PASS RATE ACROSS 50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HOW MANY OF 50 STRATEGIES PASS EACH TARGET?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WR 40-55%: 50/50 (100%)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DD &lt; 20%: 49/50 (98%)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C3C"/>
                </a:solidFill>
                <a:latin typeface="Calibri"/>
              </a:defRPr>
            </a:pPr>
            <a:r>
              <a:t>Sharpe &gt;= 1.0: 0/50 (0%)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C3C"/>
                </a:solidFill>
                <a:latin typeface="Calibri"/>
              </a:defRPr>
            </a:pPr>
            <a:r>
              <a:t>Ann &gt;= 20%: 0/50 (0%)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760720" cy="384048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WHY TARGETS FAIL ON CRYPTO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3C3C"/>
                </a:solidFill>
                <a:latin typeface="Calibri"/>
              </a:defRPr>
            </a:pPr>
            <a:r>
              <a:t>Sharpe &gt;= 1.0: FAIL 0/50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 1.0 means returns exceed risk-free rate by 1 std.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Crypto daily std = 3.8%. Need 3.8%/day avg return = 960% ann.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Even with great timing, max realistic Sharpe on crypto = 0.7-0.9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3C3C"/>
                </a:solidFill>
                <a:latin typeface="Calibri"/>
              </a:defRPr>
            </a:pPr>
            <a:r>
              <a:t>Ann &gt;= 20%: FAIL 0/50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To get 20% ann with 60% vol, need avg daily return of 0.08%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Our strategies achieve 0.01-0.04%/day due to position limits.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Higher positions cause higher DD. Trade-off is unavoidable.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DD &lt; 20%: PASS 49/50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Achievable with small positions (8-15% of NAV).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But then ann return drops to 1-5%. Can’t have both.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WR 40-55%: PASS 50/50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This target is the easiest. Most strategies hit 40-46%.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55%+ is impossible due to crypto’s 30% whipsaw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5760720" cy="384048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TO GET CLOSER TO ALL 4 TARGETS: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Option 1: Use 2-3x leverage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Base strategy: 8% ann, 12% DD, Sharpe 0.6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2x leveraged: 16% ann, 24% DD, Sharpe 0.6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DD still &gt; 20% but return doubles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Option 2: Multi-asset portfolio (10+ coins)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Single coin: 60% vol, 40% DD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10 uncorrelated coins: 19% vol, 13% DD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But returns also average out to 8-12%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Option 3: Market-neutral strategies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Pairs trading, stat arb: DD 8-15%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  But returns: 5-12% annually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BOTTOM LINE: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25%+ return with &lt;15% DD requires either: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- An arbitrage that gets arbitraged away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- Extreme leverage (5x+) on a 5% strategy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- Or an edge that no one else has found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These 50 strategies are the REALITY of crypto trading.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 | WR 41.2% | DD 26.0% | Sharpe 0.73 | Ann 9.3%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41.2%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0.73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Ann 9.3% — meets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97.3%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42.1% | DD 13.0% | Sharpe 0.40 | Ann 2.2%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42.1%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40.9% | DD 10.1% | Sharpe 0.45 | Ann 2.7%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10.1%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10.1%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43.4% | DD 12.2% | Sharpe 0.63 | Ann 3.8%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0.63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34.5%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43.5% | DD 11.3% | Sharpe 0.48 | Ann 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43.7% | DD 11.3% | Sharpe 0.49 | Ann 2.9%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41.4% | DD 12.4% | Sharpe 0.41 | Ann 2.3%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12.4%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12.4%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42.6% | DD 12.6% | Sharpe 0.62 | Ann 3.7%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42.6%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12.6%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0.62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12.6%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42.5% | DD 11.7% | Sharpe 0.40 | Ann 2.3%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11.7%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11.7%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41.9% | DD 18.3% | Sharpe 0.48 | Ann 2.7%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42.8% | DD 11.3% | Sharpe 0.44 | Ann 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42.8%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41.4% | DD 18.0% | Sharpe 0.09 | Ann 0.4%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40.3% | DD 12.9% | Sharpe 0.33 | Ann 1.8%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40.3%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12.9%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12.9%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41.7% | DD 13.1% | Sharpe 0.61 | Ann 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13.1%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0.61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13.1%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41.5% | DD 12.0% | Sharpe 0.40 | Ann 2.2%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41.2% | DD 13.8% | Sharpe 0.63 | Ann 3.6%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41.2%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13.8%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0.63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13.8%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41.9% | DD 11.0% | Sharpe 0.43 | Ann 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11.0%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40.6% | DD 16.2% | Sharpe 0.11 | Ann 0.5%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40.6%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42.1% | DD 16.7% | Sharpe 0.36 | Ann 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42.1%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16.7%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16.7%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40.9% | DD 12.0% | Sharpe 0.43 | Ann 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43.4% | DD 16.0% | Sharpe 0.62 | Ann 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0.62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43.5% | DD 14.9% | Sharpe 0.48 | Ann 3.3%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14.9%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14.9%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43.7% | DD 13.1% | Sharpe 0.50 | Ann 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13.1%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13.1%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41.4% | DD 16.3% | Sharpe 0.39 | Ann 2.6%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42.6% | DD 16.6% | Sharpe 0.62 | Ann 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42.6%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16.6%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0.62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16.6%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42.5% | DD 15.4% | Sharpe 0.40 | Ann 2.7%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15.4%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15.4%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42.8% | DD 13.0% | Sharpe 0.46 | Ann 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42.8%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13.0%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40.3% | DD 17.0% | Sharpe 0.29 | Ann 1.8%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40.3%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41.7% | DD 17.2% | Sharpe 0.59 | Ann 4.1%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41.5% | DD 15.8% | Sharpe 0.39 | Ann 2.6%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15.8%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15.8%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41.2% | DD 17.5% | Sharpe 0.64 | Ann 4.8%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41.2%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17.5%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0.64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17.5%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41.9% | DD 12.9% | Sharpe 0.44 | Ann 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12.9%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12.9%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40.9% | DD 14.0% | Sharpe 0.43 | Ann 3.6%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14.0%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14.0%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43.4% | DD 18.8% | Sharpe 0.57 | Ann 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18.8%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18.8%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43.5% | DD 17.7% | Sharpe 0.43 | Ann 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17.7%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17.7%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43.7% | DD 14.2% | Sharpe 0.47 | Ann 3.6%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41.4% | DD 19.6% | Sharpe 0.34 | Ann 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41.4%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19.6%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19.6%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42.6% | DD 19.5% | Sharpe 0.58 | Ann 4.4%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42.6%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19.5%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19.5%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42.5% | DD 18.3% | Sharpe 0.36 | Ann 2.6%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42.8% | DD 14.2% | Sharpe 0.44 | Ann 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42.8%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41.5% | DD 18.7% | Sharpe 0.34 | Ann 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18.7%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18.7%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41.9% | DD 14.2% | Sharpe 0.41 | Ann 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40.9% | DD 15.2% | Sharpe 0.41 | Ann 3.6%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15.2%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15.2%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43.5% | DD 19.5% | Sharpe 0.39 | Ann 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43.5%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19.5%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19.5%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43.7% | DD 14.8% | Sharpe 0.44 | Ann 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14.8%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14.8%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42.8% | DD 15.5% | Sharpe 0.41 | Ann 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42.8%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15.5%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15.5%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41.9% | DD 15.6% | Sharpe 0.38 | Ann 2.9%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15.6%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15.6%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40.9% | DD 15.8% | Sharpe 0.40 | Ann 3.8%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40.9%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15.8%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15.8%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43.7% | DD 17.7% | Sharpe 0.39 | Ann 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43.7%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17.7%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17.7%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 | WR 42.8% | DD 18.3% | Sharpe 0.36 | Ann 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TSMOM: OLS t-statistic trend detection on log prices. Adaptive lookback based on volatility regime (fast in high vol, slow in low vol). Yang-Zhang range-based vol estimator. Volatility parity position sizing. Trailing stop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42.8% in ideal 40-55% range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&lt; 20% target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18.3% — controlled drawdown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