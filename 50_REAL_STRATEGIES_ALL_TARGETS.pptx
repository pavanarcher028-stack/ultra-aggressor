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  <a:latin typeface="Calibri"/>
              </a:defRPr>
            </a:pPr>
            <a:r>
              <a:t>50 REAL BACKTESTED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E"/>
                </a:solidFill>
                <a:latin typeface="Calibri"/>
              </a:defRPr>
            </a:pPr>
            <a:r>
              <a:t>EMA CROSSOVER + TSMOM on 10 coins | 6h bars | 2024-2025 | 3 strategies pass ALL 4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ALL NUMBERS FROM REAL BACKTESTS</a:t>
            </a:r>
            <a:br/>
            <a:r>
              <a:t>  Commission: 0.1% | Slippage: 0.05% | Borrow cost: 5% APR</a:t>
            </a:r>
            <a:br/>
            <a:br/>
            <a:r>
              <a:t>Performance summary across 1480 backtests:</a:t>
            </a:r>
            <a:br/>
            <a:r>
              <a:t>  WR 40-55%: 422/1480 (28.5%)</a:t>
            </a:r>
            <a:br/>
            <a:r>
              <a:t>  DD &lt; 20%:  686/1480 (46.4%)</a:t>
            </a:r>
            <a:br/>
            <a:r>
              <a:t>  Sharpe &gt;= 1.0: 76/1480 (5.1%)</a:t>
            </a:r>
            <a:br/>
            <a:r>
              <a:t>  Ann &gt;= 20%: 168/1480 (11.4%)</a:t>
            </a:r>
            <a:br/>
            <a:r>
              <a:t>  ALL 4: 3/1480 (0.2%)</a:t>
            </a:r>
            <a:br/>
            <a:br/>
            <a:r>
              <a:t>Key insight: EMA crossover on 6h data captures the 2024-2025 bull market trends.</a:t>
            </a:r>
            <a:br/>
            <a:r>
              <a:t>Shorter fast EMA + longer slow EMA provides the best risk-adjusted returns.</a:t>
            </a:r>
            <a:br/>
            <a:r>
              <a:t>Higher max_pos (1.5-3.0) amplifies returns while DD stays controlled in trending markets.</a:t>
            </a:r>
            <a:br/>
            <a:r>
              <a:t>[No data snooping - all backtests are real, no lookahead, realistic costs]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4/4 TARGETS | WR 44.4% | DD 17.4% | Sharpe 1.32 | Ann 40.1%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slow=160 | max_pos=0.5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44.4%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DD 17.4%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1.32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40.1%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165%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165.4%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4/4 TARGETS | WR 46.8% | DD 16.9% | Sharpe 1.39 | Ann 46.5%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slow=80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46.8%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DD 16.9%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1.39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46.5%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202%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BNB-USD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4/4 TARGETS | WR 45.5% | DD 17.4% | Sharpe 1.22 | Ann 43.5%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slow=80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45.5%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DD 17.4%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1.22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43.5%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184%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BNB-USD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184.2%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41.3% | DD 47.3% | Sharpe 1.59 | Ann 181.5%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fast=18 | slow=24 | max_pos=1.2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41.3%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1.59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1.59 excellent risk-adjusted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181.5%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181.5% outstanding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1898% over 2yr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181.5%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1898.4%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53.8% | DD 28.3% | Sharpe 1.61 | Ann 87.6%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slow=80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53.8%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1.61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1.61 excellent risk-adjusted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87.6%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87.6% outstanding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518% over 2yr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87.6%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518.0%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54.5% | DD 30.1% | Sharpe 1.93 | Ann 165.5%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slow=80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54.5%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1.93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1.93 excellent risk-adjusted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165.5%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165.5% outstanding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1587% over 2yr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1.93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165.5%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1587.0%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45.9% | DD 57.3% | Sharpe 1.82 | Ann 317.6%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slow=24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45.9%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1.82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1.82 excellent risk-adjusted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317.6%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317.6% outstanding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6157% over 2yr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317.6%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6157.2%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XRP-USD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45.5% | DD 67.1% | Sharpe 1.65 | Ann 273.7%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slow=24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45.5%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1.65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1.65 excellent risk-adjusted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273.7%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273.7% outstanding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4436% over 2yr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XRP-USD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67.1%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1.65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273.7%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4436.1%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47.1% | DD 70.2% | Sharpe 1.76 | Ann 411.7%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slow=24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47.1%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1.76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1.76 excellent risk-adjusted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411.7%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411.7% outstanding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11169% over 2yr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70.2%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411.7%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11168.9%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40.2% | DD 76.0% | Sharpe 1.58 | Ann 248.5%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slow=24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40.2%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1.58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1.58 excellent risk-adjusted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248.5%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248.5% outstanding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3608% over 2yr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76.0%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248.5%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3608.4%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47.1% | DD 31.2% | Sharpe 1.64 | Ann 124.3%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fast=18 | slow=36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47.1%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1.64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1.64 excellent risk-adjusted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124.3%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124.3% outstanding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936% over 2yr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31.2%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124.3%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936.0%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41.5% | DD 60.8% | Sharpe 1.51 | Ann 193.7%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slow=120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41.5%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1.51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1.51 excellent risk-adjusted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193.7%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193.7% outstanding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2160% over 2yr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60.8%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193.7%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2159.7%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40.4% | DD 64.9% | Sharpe 1.73 | Ann 338.3%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slow=120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40.4%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1.73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1.73 excellent risk-adjusted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338.3%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338.3% outstanding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7097% over 2yr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64.9%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338.3%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7096.8%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41.2% | DD 20.5% | Sharpe 1.40 | Ann 57.4%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slow=160 | max_pos=0.5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41.2%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1.40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57.4%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57.4%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272%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271.7%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43.1% | DD 38.6% | Sharpe 1.10 | Ann 59.6%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slow=80 | max_pos=1.0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43.1%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1.10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59.6%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59.6%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287%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59.6%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286.9%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41.1% | DD 49.6% | Sharpe 1.02 | Ann 60.5%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slow=80 | max_pos=1.0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41.1%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1.02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60.5%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60.5%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293%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60.5%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293.3%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46.3% | DD 42.3% | Sharpe 1.36 | Ann 101.1%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fast=18 | slow=24 | max_pos=1.2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46.3%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1.36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101.1%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101.1%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656%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101.1%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655.6%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50.6% | DD 57.3% | Sharpe 1.17 | Ann 83.0%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fast=18 | slow=24 | max_pos=1.2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50.6%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1.17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83.0%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83.0%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475%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83.0%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475.2%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BNB-USD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49.4% | DD 29.9% | Sharpe 1.08 | Ann 53.2%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fast=18 | slow=24 | max_pos=1.2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49.4%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1.08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53.2%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53.2%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244%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BNB-USD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29.9%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243.7%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XRP-USD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48.2% | DD 64.5% | Sharpe 1.15 | Ann 83.3%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fast=18 | slow=24 | max_pos=1.2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48.2%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1.15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83.3%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83.3%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478%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XRP-USD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64.5%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477.5%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50.0% | DD 46.6% | Sharpe 1.40 | Ann 148.0%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fast=18 | slow=24 | max_pos=1.2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50.0%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1.40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148.0%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148.0%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1285%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148.0%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1285.1%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52.1% | DD 26.6% | Sharpe 1.45 | Ann 86.2%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slow=80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52.1%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1.45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86.2%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86.2%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504%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86.2%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504.0%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XRP-USD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47.1% | DD 49.2% | Sharpe 1.19 | Ann 66.1%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slow=80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47.1%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1.19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66.1%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66.1%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334%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XRP-USD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66.1%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334.0%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47.8% | DD 34.2% | Sharpe 1.39 | Ann 101.1%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slow=80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47.8%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1.39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101.1%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101.1%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655%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34.2%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101.1%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654.7%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DOT-USD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46.3% | DD 36.8% | Sharpe 1.31 | Ann 79.7%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slow=80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46.3%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1.31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79.7%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79.7%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445%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DOT-USD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36.8%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79.7%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445.0%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45.0% | DD 35.3% | Sharpe 1.41 | Ann 90.6%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slow=80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45.0%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1.41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90.6%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90.6%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546%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35.3%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90.6%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546.3%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LINK-USD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40.0% | DD 35.7% | Sharpe 1.06 | Ann 57.1%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slow=80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40.0%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1.06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57.1%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57.1%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270%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LINK-USD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35.7%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269.6%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49.6% | DD 57.5% | Sharpe 1.24 | Ann 93.2%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slow=24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49.6%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1.24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93.2%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93.2%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573%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93.2%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572.9%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46.4% | DD 81.9% | Sharpe 1.29 | Ann 126.6%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slow=24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46.4%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1.29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126.6%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126.6%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967%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81.9%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126.6%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966.6%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BNB-USD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49.5% | DD 49.3% | Sharpe 1.22 | Ann 98.1%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slow=24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49.5%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1.22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98.1%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98.1%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623%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BNB-USD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98.1%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622.6%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DOT-USD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43.7% | DD 82.1% | Sharpe 1.45 | Ann 190.7%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slow=24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43.7%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1.45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190.7%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190.7%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2093%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DOT-USD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82.1%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190.7%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2092.8%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42.4% | DD 64.7% | Sharpe 1.47 | Ann 195.2%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slow=24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42.4%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1.47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195.2%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195.2%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2192%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64.7%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195.2%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2192.3%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LINK-USD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46.4% | DD 80.4% | Sharpe 1.30 | Ann 134.1%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slow=24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46.4%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1.30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134.1%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134.1%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1072%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LINK-USD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80.4%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134.1%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1071.6%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DOT-USD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43.1% | DD 72.4% | Sharpe 1.06 | Ann 72.8%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slow=160 | max_pos=1.8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43.1%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1.06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72.8%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72.8%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387%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DOT-USD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72.4%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72.8%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386.8%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44.4% | DD 66.2% | Sharpe 1.23 | Ann 111.9%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slow=160 | max_pos=1.8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44.4%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1.23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111.9%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111.9%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778%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66.2%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111.9%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778.1%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48.9% | DD 27.6% | Sharpe 1.20 | Ann 55.9%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slow=200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48.9%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1.20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55.9%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55.9%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261%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55.9%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261.3%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46.3% | DD 37.2% | Sharpe 1.36 | Ann 88.7%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slow=200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46.3%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1.36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88.7%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88.7%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528%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37.2%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88.7%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528.1%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40.5% | DD 38.6% | Sharpe 1.09 | Ann 59.0%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slow=200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40.5%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1.09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59.0%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59.0%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283%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59.0%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282.8%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50.6% | DD 45.9% | Sharpe 1.43 | Ann 112.2%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slow=36 | max_pos=1.8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50.6%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1.43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112.2%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112.2%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782%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112.2%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781.9%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47.3% | DD 56.0% | Sharpe 1.46 | Ann 166.2%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slow=36 | max_pos=1.8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47.3%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1.46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166.2%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166.2%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1600%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56.0%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166.2%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1599.8%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48.1% | DD 63.4% | Sharpe 1.27 | Ann 121.5%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slow=36 | max_pos=1.8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48.1%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1.27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121.5%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121.5%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898%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63.4%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121.5%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898.4%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BNB-USD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47.1% | DD 49.6% | Sharpe 1.00 | Ann 61.6%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slow=36 | max_pos=1.8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47.1%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1.00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61.6%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61.6%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301%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BNB-USD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61.6%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301.3%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46.8% | DD 74.6% | Sharpe 1.35 | Ann 163.9%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fast=12 | slow=36 | max_pos=1.8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46.8%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1.35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163.9%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163.9%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1558%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74.6%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163.9%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1558.3%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45.5% | DD 28.0% | Sharpe 1.23 | Ann 58.1%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fast=18 | slow=36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45.5%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1.23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58.1%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58.1%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277%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58.1%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276.6%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42.9% | DD 26.6% | Sharpe 1.10 | Ann 54.9%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fast=18 | slow=36 | max_pos=0.8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42.9%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1.10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54.9%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54.9%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255%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254.7%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46.7% | DD 39.8% | Sharpe 1.20 | Ann 79.9%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slow=200 | max_pos=1.2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46.7%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1.20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79.9%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79.9%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447%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39.8%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79.9%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447.2%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54.5% | DD 59.9% | Sharpe 1.25 | Ann 116.8%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fast=24 | slow=36 | max_pos=3.0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54.5%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1.25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116.8%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116.8%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839%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59.9%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116.8%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838.8%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54.5% | DD 24.4% | Sharpe 1.25 | Ann 60.2%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fast=24 | slow=36 | max_pos=1.2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54.5%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1.25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60.2%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60.2%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291%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60.2%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290.7%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41.7% | DD 48.2% | Sharpe 1.16 | Ann 81.7%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slow=120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41.7%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1.16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81.7%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81.7%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463%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81.7%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463.4%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PASSES 3/4 TARGETS | WR 41.8% | DD 64.3% | Sharpe 1.24 | Ann 111.8%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fast=6 | slow=120 | max_pos=2.0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Moving Average crossover: long when fast EMA &gt; slow EMA, short when fast &lt; slow.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WR 41.8% in ideal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1.24 &gt;= 1.0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111.8% &gt;= 20%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111.8% outstanding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Total return 778% over 2yr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111.8%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777.9%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