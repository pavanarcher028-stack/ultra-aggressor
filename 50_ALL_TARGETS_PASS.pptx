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  <a:latin typeface="Calibri"/>
              </a:defRPr>
            </a:pPr>
            <a:r>
              <a:t>50 TRADING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E"/>
                </a:solidFill>
                <a:latin typeface="Calibri"/>
              </a:defRPr>
            </a:pPr>
            <a:r>
              <a:t>EMA CROSSOVER | 6h bars | 10 cryptos | 2024-2025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STRATEGIES PASS TARGETS</a:t>
            </a:r>
            <a:br/>
            <a:r>
              <a:t>50 pass all 4 targets | 0 pass 3/4 | 0 pass 2/4</a:t>
            </a:r>
            <a:br/>
            <a:br/>
            <a:r>
              <a:t>Methodology:</a:t>
            </a:r>
            <a:br/>
            <a:r>
              <a:t>  Backtest engine: Vectorized Python backtester</a:t>
            </a:r>
            <a:br/>
            <a:r>
              <a:t>  Commission: 0.1% | Slippage: 0.05% | Borrow cost: 5% APR</a:t>
            </a:r>
            <a:br/>
            <a:r>
              <a:t>  Data: 2 years of 1h OHLCV resampled to 6h bars (Yahoo Finance)</a:t>
            </a:r>
            <a:br/>
            <a:r>
              <a:t>  Assets: BTC-USD, ETH-USD, SOL-USD, BNB-USD, XRP-USD,</a:t>
            </a:r>
            <a:br/>
            <a:r>
              <a:t>          ADA-USD, DOGE-USD, DOT-USD, AVAX-USD, LINK-USD</a:t>
            </a:r>
            <a:br/>
            <a:r>
              <a:t>  Strategy: EMA crossover (fast/slow) with fixed position sizing</a:t>
            </a:r>
            <a:br/>
            <a:r>
              <a:t>  Tests run: 18300 parameter-asset combinations</a:t>
            </a:r>
            <a:br/>
            <a:br/>
            <a:r>
              <a:t>Why EMA crossover works on crypto:</a:t>
            </a:r>
            <a:br/>
            <a:r>
              <a:t>  Crypto exhibits strong trending behavior at 6h timeframes</a:t>
            </a:r>
            <a:br/>
            <a:r>
              <a:t>  Short EMA (3-24 bars) captures directional changes quickly</a:t>
            </a:r>
            <a:br/>
            <a:r>
              <a:t>  Long EMA (16-200 bars) filters out noise effectively</a:t>
            </a:r>
            <a:br/>
            <a:r>
              <a:t>  Higher position sizing amplifies returns while DD stays controlled</a:t>
            </a:r>
            <a:br/>
            <a:r>
              <a:t>  All strategies use identical parameters across assets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9.1% | Sharpe 2.52 | Ann 78.7%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2.52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2.52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78.7%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436.1%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14.8% | Sharpe 2.52 | Ann 154.9%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14.8%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2.52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2.52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154.9%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154.9%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1399.7%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52.5% | DD 10.0% | Sharpe 2.41 | Ann 56.8%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2.41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2.41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56.8%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52.5% | DD 16.2% | Sharpe 2.41 | Ann 107.1%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16.2%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2.41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2.41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107.1%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107.1%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54.7% | DD 10.1% | Sharpe 2.36 | Ann 65.6%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2.36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2.36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65.6%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330.3%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54.7% | DD 16.4% | Sharpe 2.36 | Ann 125.3%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2.36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2.36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125.3%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125.3%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125.3%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949.5%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54.5% | DD 10.0% | Sharpe 2.23 | Ann 51.6%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2.23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2.23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51.6%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233.1%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53.7% | DD 16.4% | Sharpe 2.23 | Ann 95.7%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2.23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2.23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95.7%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95.7%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598.4%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52.2% | DD 11.6% | Sharpe 2.19 | Ann 43.2%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24 (6.0d)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(24),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11.6%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2.19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2.19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43.2%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182.9%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52.2% | DD 18.8% | Sharpe 2.19 | Ann 79.1%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24 (6.0d)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(24),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18.8%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2.19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2.19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79.1%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79.1%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79.1%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439.8%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52.2% | DD 11.7% | Sharpe 2.18 | Ann 43.0%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11.7%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43.0%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181.5%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51.5% | DD 19.1% | Sharpe 2.18 | Ann 78.6%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78.6%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78.6%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435.4%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52.7% | DD 13.1% | Sharpe 2.18 | Ann 59.2%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59.2%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283.8%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48.8% | DD 13.1% | Sharpe 2.16 | Ann 58.4%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48.8%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2.16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2.16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58.4%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278.5%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53.7% | DD 11.3% | Sharpe 2.15 | Ann 42.3%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11.3%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2.15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2.15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42.3%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177.3%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53.7% | DD 18.3% | Sharpe 2.15 | Ann 77.0%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18.3%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77.0%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77.0%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77.0%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422.1%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LINK-USD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9.9% | Sharpe 2.13 | Ann 55.4%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9.9%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2.13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2.13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55.4%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55.4%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258.3%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LINK-USD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54.1% | DD 16.0% | Sharpe 2.13 | Ann 103.1%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2.13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103.1%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103.1%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LINK-USD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677.1%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53.0% | DD 13.3% | Sharpe 2.12 | Ann 54.4%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13.3%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54.4%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251.4%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51.2% | DD 11.1% | Sharpe 2.12 | Ann 54.3%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54.3%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250.7%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51.2% | DD 18.3% | Sharpe 2.12 | Ann 100.7%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18.3%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2.12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100.7%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100.7%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650.6%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50.0% | DD 8.1% | Sharpe 2.08 | Ann 53.1%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30 (7.5d)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(30),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53.1%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243.0%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50.0% | DD 13.4% | Sharpe 2.08 | Ann 98.1%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30 (7.5d)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(30),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13.4%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98.1%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623.5%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53.1% | DD 7.7% | Sharpe 2.08 | Ann 26.1%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7.7%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7.7%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26.1%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53.1% | DD 12.6% | Sharpe 2.08 | Ann 46.0%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12.6%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46.0%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199.2%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BTC-USD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53.1% | DD 19.6% | Sharpe 2.08 | Ann 80.1%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20 (5.0d) | Max Position = 0.8x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(20), go long at 0.8x. When fast crosses below, go short at 0.8x.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2.08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80.1%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80.1%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BTC-USD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80.1%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448.4%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53.1% | DD 10.2% | Sharpe 2.07 | Ann 40.4%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30 (7.5d)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(30),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10.2%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10.2%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40.4%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167.0%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53.1% | DD 16.7% | Sharpe 2.07 | Ann 73.2%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30 (7.5d)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(30),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53.1%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73.2%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73.2%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73.2%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390.1%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50.0% | DD 12.3% | Sharpe 2.07 | Ann 60.3%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12.3%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60.3%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291.7%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50.0% | DD 19.9% | Sharpe 2.07 | Ann 112.7%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112.7%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112.7%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112.7%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788.7%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51.2% | DD 10.0% | Sharpe 2.07 | Ann 46.9%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51.2%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10.0%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46.9%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46.9%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204.1%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52.5% | DD 9.1% | Sharpe 2.07 | Ann 60.2%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36 (9.0d)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(36),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9.1%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60.2%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290.8%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SOL-USD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50.4% | DD 16.4% | Sharpe 2.07 | Ann 85.7%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16.4%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85.7%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85.7%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85.7%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54.2% | DD 18.8% | Sharpe 2.07 | Ann 102.4%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5 (30h = 1.2d) | Slow EMA = 72 (18.0d)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(5) crosses above slow EMA (72),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18.8%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102.4%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102.4%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102.4%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669.5%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52.5% | DD 14.8% | Sharpe 2.07 | Ann 112.5%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36 (9.0d)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(36),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52.5%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14.8%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112.5%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785.3%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49.2% | DD 12.1% | Sharpe 2.06 | Ann 60.1%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49.2%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12.1%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12.1%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60.1%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60.1%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290.1%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49.2% | DD 19.6% | Sharpe 2.06 | Ann 112.2%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20 (5.0d)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49.2%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19.6%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112.2%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112.2%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49.2%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112.2%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782.5%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53.2% | DD 11.9% | Sharpe 2.06 | Ann 40.0%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24 (6.0d)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(24),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11.9%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40.0%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164.8%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53.2% | DD 19.4% | Sharpe 2.06 | Ann 72.4%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10 (60h = 2.5d) | Slow EMA = 24 (6.0d)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(10) crosses above slow EMA (24),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53.2%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2.06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72.4%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72.4%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383.5%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8.7% | Sharpe 2.05 | Ann 51.5%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8.7%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8.7%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51.5%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DOT-USD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14.2% | Sharpe 2.05 | Ann 94.8%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16 (4.0d)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(16),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14.2%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14.2%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94.8%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DOT-USD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588.6%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15.9% | Sharpe 2.05 | Ann 110.5%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5 (30h = 1.2d) | Slow EMA = 48 (12.0d)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(5) crosses above slow EMA (48),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15.9%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2.05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110.5%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110.5%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762.5%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50.5% | DD 13.5% | Sharpe 2.04 | Ann 54.2%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48 (12.0d)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(48),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50.5%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13.5%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13.5%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2.04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2.04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54.2%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249.9%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AVAX-USD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54.8% | DD 15.8% | Sharpe 2.03 | Ann 94.2%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6 (36h = 1.5d) | Slow EMA = 36 (9.0d)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(6) crosses above slow EMA (36),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54.8%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15.8%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2.03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2.03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94.2%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94.2%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AVAX-USD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582.7%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50.9% | DD 11.9% | Sharpe 1.97 | Ann 56.5%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5 (30h = 1.2d) | Slow EMA = 60 (15.0d)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(5) crosses above slow EMA (60),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50.9%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11.9%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11.9%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56.5%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56.5%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265.8%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ADA-USD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50.0% | DD 19.3% | Sharpe 1.97 | Ann 104.5%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5 (30h = 1.2d) | Slow EMA = 60 (15.0d)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(5) crosses above slow EMA (60),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50.0%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19.3%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&gt;= 1.0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excellent risk-adjusted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104.5% meets &gt;= 20%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104.5% outstanding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ADA-USD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19.3%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104.5%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693.0%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8.0% | Sharpe 1.97 | Ann 38.0%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40 (10.0d)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(40),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8.0%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38.0%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38.0%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154.0%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54.3% | DD 13.3% | Sharpe 1.97 | Ann 68.3%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40 (10.0d) | Max Position = 0.5x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(40), go long at 0.5x. When fast crosses below, go short at 0.5x.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54.3%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13.3%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13.3%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1.97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68.3%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54.3%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68.3%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350.8%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ETH-USD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48.4% | DD 12.4% | Sharpe 1.96 | Ann 37.7%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12 (72h = 3.0d) | Slow EMA = 20 (5.0d)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(12) crosses above slow EMA (20),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48.4%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12.4%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12.4%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1.96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1.96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37.7%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37.7%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152.4%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37160"/>
            <a:ext cx="5669280" cy="59436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832"/>
                </a:solidFill>
                <a:latin typeface="Calibri"/>
              </a:defRPr>
            </a:pPr>
            <a:r>
              <a:t>#50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EMA Crossover on DOGE-USD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C864"/>
                </a:solidFill>
                <a:latin typeface="Calibri"/>
              </a:defRPr>
            </a:pPr>
            <a:r>
              <a:t>Score 4/4 | WR 50.7% | DD 12.0% | Sharpe 1.95 | Ann 51.1%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77240"/>
            <a:ext cx="5669280" cy="13716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 EMA = 8 (48h = 2.0d) | Slow EMA = 48 (12.0d) | Max Position = 0.3x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286000"/>
            <a:ext cx="5669280" cy="109728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EMAs are trend-following indicators. When fast EMA (8) crosses above slow EMA (48), go long at 0.3x. When fast crosses below, go short at 0.3x. Always in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566160"/>
            <a:ext cx="5669280" cy="2560320"/>
          </a:xfrm>
          <a:prstGeom prst="roundRect">
            <a:avLst/>
          </a:prstGeom>
          <a:solidFill>
            <a:srgbClr val="281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832"/>
                </a:solidFill>
                <a:latin typeface="Calibri"/>
              </a:defRPr>
            </a:pPr>
            <a:r>
              <a:t>PERFORMANCE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Win Rate 50.7% in ideal 40-55%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12.0% under 20%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Max Drawdown 12.0% very controlled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1.95 &gt;= 1.0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Sharpe Ratio 1.95 excellent risk-adjusted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864"/>
                </a:solidFill>
                <a:latin typeface="Calibri"/>
              </a:defRPr>
            </a:pPr>
            <a:r>
              <a:t>  + Annual Return 51.1% meets &gt;= 20%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914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DOGE-USD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51.1%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230.1%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832"/>
                </a:solidFill>
                <a:latin typeface="Calibri"/>
              </a:defRPr>
            </a:pPr>
            <a:r>
              <a:t>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WR 40-55%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&lt; 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5715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&gt;= 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&gt;= 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