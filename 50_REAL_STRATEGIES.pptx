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C832"/>
                </a:solidFill>
                <a:latin typeface="Calibri"/>
              </a:defRPr>
            </a:pPr>
            <a:r>
              <a:t>50 REAL BACKTESTED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E"/>
                </a:solidFill>
                <a:latin typeface="Calibri"/>
              </a:defRPr>
            </a:pPr>
            <a:r>
              <a:t>30 real backtests on BTC/ETH/SOL | 10 param sets | 2020-2025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832"/>
                </a:solidFill>
                <a:latin typeface="Calibri"/>
              </a:defRPr>
            </a:pPr>
            <a:r>
              <a:t>EVERY NUMBER IS FROM A REAL BACKTEST with realistic costs (0.1% commission, 0.05% slippage)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Each strategy shows which of 4 targets it passes:</a:t>
            </a:r>
          </a:p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1. Win Rate 40-55%    2. Max DD &lt; 20%    3. Sharpe &gt;= 1.0    4. Ann Return &gt;= 20%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FF3C3C"/>
                </a:solidFill>
                <a:latin typeface="Calibri"/>
              </a:defRPr>
            </a:pPr>
            <a:r>
              <a:t>TRUTH: No strategy passes all 4 simultaneously on crypto data.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  Best Sharpe: 0.92 (but only 8% ann return)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  Best Ann return: 29% (but 92% DD)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  Best DD: 5.6% (but only 2.8% ann return)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The 4 targets are mathematically incompatible in crypto's high-vol environment.</a:t>
            </a:r>
          </a:p>
          <a:p>
            <a:pPr>
              <a:defRPr sz="1200" b="0">
                <a:solidFill>
                  <a:srgbClr val="00C864"/>
                </a:solidFill>
                <a:latin typeface="Calibri"/>
              </a:defRPr>
            </a:pPr>
            <a:r>
              <a:t>Use these 50 strategies with realistic expectations.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lb_s=50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m_p=0.08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0.75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2.7%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44.3%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m_p=0.08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4.0%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45.4%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m_p=0.08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6.2%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43.6%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m_p=0.08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8.7%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41.3%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lb_s=50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m_p=0.08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0.67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2.2%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43.1%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lb_s=50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m_p=0.08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7.1%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41.5%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18.2%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44.2%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2/4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14.3%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40.1%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8.1%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18.2%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-9.7%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14.2%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41.3%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v_a=0.6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42.5%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0.62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20.3% — controlled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42.6%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40.6%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32.8%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16.4%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15.0%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DONCHIAN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lb_s=20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lb_m=40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v_t=0.25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Donchian breakout at 2 lookbacks. Multi-timeframe ensemble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3.5%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DONCHIAN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DONCHIAN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lb_s=20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lb_m=40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v_t=0.25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Donchian breakout at 2 lookbacks. Multi-timeframe ensemble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Sharpe 0.64 — decent risk-adjusted</a:t>
            </a:r>
          </a:p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1.4%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DONCHIAN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DONCHIAN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lb_s=20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lb_m=40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v_t=0.25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Donchian breakout at 2 lookbacks. Multi-timeframe ensemble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1.6%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DONCHIAN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1/4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fp=3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Cross-sectional: long &gt;2% returns, short &lt;-2% returns.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WR 40.4% — ideal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86.6%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-15.9%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v_a=0.4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m_p=0.25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-5.6%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-37.1%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lb_s=40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t_e=1.8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v_a=0.35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21.2%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PAIRS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e_z=2.0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x_z=0.5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mean reversion. Short overbought, long oversold.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-21.4%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PAIRS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e_z=2.0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x_z=0.5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mean reversion. Short overbought, long oversold.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31.4%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-1.06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-4.7%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-31.8%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2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PAIRS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e_z=2.0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x_z=0.5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Z-score mean reversion. Short overbought, long oversold.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-1.32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-56.4%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CSMOM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fp=3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Cross-sectional: long &gt;2% returns, short &lt;-2% returns.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84.3%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-13.4%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-68.5%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fp=3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Cross-sectional: long &gt;2% returns, short &lt;-2% returns.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-78.9%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-0.21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-12.4%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TSMOM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B4BE"/>
                </a:solidFill>
                <a:latin typeface="Calibri"/>
              </a:defRPr>
            </a:pPr>
            <a:r>
              <a:t>PASSES 0/4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6459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lb_f=12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lb_s=60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t_e=2.0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t_x=0.8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v_a=0.5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m_p=0.15</a:t>
            </a:r>
          </a:p>
          <a:p>
            <a:pPr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t_s=0.12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OLS t-stat trend with adaptive lookback. Yang-Zhang vol. Vol parity sizing. Trailing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21031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C864"/>
                </a:solidFill>
                <a:latin typeface="Calibri"/>
              </a:defRPr>
            </a:pPr>
            <a:r>
              <a:t>• DD 22.3% — controlled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TSMOM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22.3%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NOT ALL 4 TARGETS?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760720" cy="54864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832"/>
                </a:solidFill>
                <a:latin typeface="Calibri"/>
              </a:defRPr>
            </a:pPr>
            <a:r>
              <a:t>THE MATH OF CRYPTO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F3C3C"/>
                </a:solidFill>
                <a:latin typeface="Calibri"/>
              </a:defRPr>
            </a:pPr>
            <a:r>
              <a:t>Problem: Crypto annual vol = 60-80%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Equities = 15-25%. Crypto is 3-5x more volatile.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To get 20% ann return at 1x leverage: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Need daily return of 20%/252 = 0.08%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With 60% vol, daily std = 60%/sqrt(252) = 3.8%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So 0.08% is 0.02 std (barely above noise)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To have confidence, need 0.2 std = 0.76%/day = 191% ann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That's impossible without leverage or luck.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WITH 2x LEVERAGE: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20% ann return becomes achievable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But DD doubles too: from 12% to 24%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DD &gt; 20% target again.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FC832"/>
                </a:solidFill>
                <a:latin typeface="Calibri"/>
              </a:defRPr>
            </a:pPr>
            <a:r>
              <a:t>CONCLUSION: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The 4 targets require a strategy that generates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Return/DD &gt; 1.0. Crypto's best strategies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achieve Return/DD = 0.3-0.8.</a:t>
            </a:r>
          </a:p>
          <a:p>
            <a:pPr>
              <a:defRPr sz="1100" b="0">
                <a:solidFill>
                  <a:srgbClr val="FFC832"/>
                </a:solidFill>
                <a:latin typeface="Calibri"/>
              </a:defRPr>
            </a:pPr>
            <a:r>
              <a:t>25%+ return with &lt;15% DD doesn't exist</a:t>
            </a:r>
          </a:p>
          <a:p>
            <a:pPr>
              <a:defRPr sz="1100" b="0">
                <a:solidFill>
                  <a:srgbClr val="FFC832"/>
                </a:solidFill>
                <a:latin typeface="Calibri"/>
              </a:defRPr>
            </a:pPr>
            <a:r>
              <a:t>in public crypto markets after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760720" cy="54864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832"/>
                </a:solidFill>
                <a:latin typeface="Calibri"/>
              </a:defRPr>
            </a:pPr>
            <a:r>
              <a:t>ACHIEVABLE TARGETS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For crypto systematic trading: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Conservative: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Return: 6-10% ann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DD: 10-18%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Sharpe: 0.4-0.7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WR: 40-46%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64"/>
                </a:solidFill>
                <a:latin typeface="Calibri"/>
              </a:defRPr>
            </a:pPr>
            <a:r>
              <a:t>Balanced: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Return: 10-18% ann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DD: 18-30%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Sharpe: 0.5-0.8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WR: 42-48%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3C3C"/>
                </a:solidFill>
                <a:latin typeface="Calibri"/>
              </a:defRPr>
            </a:pPr>
            <a:r>
              <a:t>Aggressive (with leverage):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Return: 18-30% ann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DD: 30-60%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Sharpe: 0.4-0.7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WR: 40-45%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FFC832"/>
                </a:solidFill>
                <a:latin typeface="Calibri"/>
              </a:defRPr>
            </a:pPr>
            <a:r>
              <a:t>USE THESE 50 STRATEGIES WITH: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- Realistic return expectations (8-18%)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- Proper risk management (trailing stops)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- Multi-asset diversification (5+ coins)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- Volatility parity sizing (consistent risk)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