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C832"/>
                </a:solidFill>
                <a:latin typeface="Calibri"/>
              </a:defRPr>
            </a:pPr>
            <a:r>
              <a:t>50 BEST TRADING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E"/>
                </a:solidFill>
                <a:latin typeface="Calibri"/>
              </a:defRPr>
            </a:pPr>
            <a:r>
              <a:t>Autonomous AI Hedge Fund — Every Strategy with Why It's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C8FF"/>
                </a:solidFill>
                <a:latin typeface="Calibri"/>
              </a:defRPr>
            </a:pPr>
            <a:r>
              <a:t>Complete Catalog of Institutional-Grade Trading Strategies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FFC832"/>
                </a:solidFill>
                <a:latin typeface="Calibri"/>
              </a:defRPr>
            </a:pPr>
            <a:r>
              <a:t>8 Categories Across 50 Strategies:</a:t>
            </a:r>
          </a:p>
          <a:p>
            <a:pPr>
              <a:defRPr sz="1300" b="0">
                <a:solidFill>
                  <a:srgbClr val="B4B4BE"/>
                </a:solidFill>
                <a:latin typeface="Calibri"/>
              </a:defRPr>
            </a:pPr>
            <a:r>
              <a:t>Trend Following (10) | Momentum (7) | Mean Reversion (8) | Volatility (5)</a:t>
            </a:r>
          </a:p>
          <a:p>
            <a:pPr>
              <a:defRPr sz="1300" b="0">
                <a:solidFill>
                  <a:srgbClr val="B4B4BE"/>
                </a:solidFill>
                <a:latin typeface="Calibri"/>
              </a:defRPr>
            </a:pPr>
            <a:r>
              <a:t>Statistical Arbitrage (6) | ML/AI (8) | Portfolio (4) | Microstructure (2)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Every strategy includes: How It Works → How It Trades → The Edge → Why Included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Data: 10 crypto assets, 2020-2025, daily OHLCV, tick-level for microstructure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500+ backtest iterations, 252+ grid search combos, 15+ academic papers ingested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TABLE OF CONTENTS — 50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FF"/>
                </a:solidFill>
                <a:latin typeface="Calibri"/>
              </a:defRPr>
            </a:pPr>
            <a:r>
              <a:t>TREND FOLLOWING (10 strategies)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155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TSMOM | CSMOM | Donchian Breakout Ensemble | Dual Moving Average Crossover | Ichimoku Cloud System | Parabolic SAR Trend Catcher | ADX Trend Strength System | KAMA | MACD Trend Confirmation | SuperTrend Reversal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813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Best risk-adjusted returns in crypto. Adaptive lookback handles changing vol. Ya...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19072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737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Highest annual return (21.2%) of any strategy tested. 335% total return over the...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75104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93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993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Donchian Breakout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9933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Used by professional commodity traders for 40+ years. Ensemble of 3 lookbacks fi...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31136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494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2494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Dual Moving Average Crossover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24942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The classic systematic strategy. Simple but effective. Fast/slow MA cross captur...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87168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054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5054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Ichimoku Cloud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50545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All-in-one indicator: support/resistance, trend direction, and momentum. The Clo...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743200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7614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7614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Parabolic SAR Trend Catcher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76148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Designed by Welles Wilder for trending markets. SAR dots accelerate as trend str...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999232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17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017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ADX Trend Strength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017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ADX measures trend strength, not direction. Combined with +/-DI for direction. O...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255264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2735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273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KAMA — Kaufman Adaptive 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2735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Self-adjusting MA that speeds up in trends and slows in noise. Efficiency Ratio ...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511296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295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529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MACD Trend Confirmation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35295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MACD measures trend momentum via exponential MA convergence/divergence. Histogra...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767328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7856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7856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SuperTrend Reversal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378561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ATR-based trailing stop that flips with trend. Simpler than SAR but more robust ...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114800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133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  <a:latin typeface="Calibri"/>
              </a:defRPr>
            </a:pPr>
            <a:r>
              <a:t>MOMENTUM (7 strategies)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1330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Relative Strength Ranking | Volume-Weighted Momentum | Price Rate of Change | Acceleration Momentum | Seasonal Momentum Effect | Momentum with Volatility Regime Filter | Multi-Factor Momentum Composite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480560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11.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44988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Relative Strength Ranking (RSR)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44988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Buys the strongest coin in the universe. Simple ranking of past returns. Outperf...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736592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7548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12.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754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Volume-Weighted Momentum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47548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Momentum confirmed by volume = stronger signals. Volume validates that smart mon...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4992624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010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13.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010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Price Rate of Change (ROC)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501091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Pure price momentum measured by percentage change over N periods. No lag from sm...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248656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2669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14.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52669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Acceleration Momentum (3rd Derivative)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526694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Trades acceleration of momentum — the change in the rate of change. Catches infl...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504688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5229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15.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55229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Seasonal Momentum Effect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55229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Crypto shows day-of-week and month-end momentum patterns. Monday/Friday effects ...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760720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779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16.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7790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Momentum with Volatility Regime Filter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577900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Standard momentum fails in high-vol regimes. This version switches off during vo...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6016752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035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17.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6035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Multi-Factor Momentum Composite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6035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Combines 5 momentum signals into one composite score. Reduces individual signal ...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74320" y="6364224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382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82FF"/>
                </a:solidFill>
                <a:latin typeface="Calibri"/>
              </a:defRPr>
            </a:pPr>
            <a:r>
              <a:t>MEAN REVERSION (8 strategies)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0" y="63825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Bollinger Band Squeeze Breakout | RSI Extreme Mean Reversion | Statistical Arbitrage | Z-Score Reversion System | VWAP Deviation Mean Reversion | Stochastic Oscillator Reversal | Ornstein-Uhlenbeck Mean Reversion | Cointegrated Pairs Trading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6729984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7482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18.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67482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Bollinger Band Squeeze Breakout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67482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Bollinger Bands contracting = low volatility = impending explosion. Squeeze iden...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6986016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70043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19.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700430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RSI Extreme Mean Reversion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700430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RSI &lt; 25 or &gt; 75 indicates statistically extreme overbought/oversold. Crypto sho...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" y="7242048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7260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20.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72603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Statistical Arbitrage (PCA-Based)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0" y="726033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PCA decomposes crypto market into systematic factors. Trades residuals = idiosyn...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200" y="7498080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75163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21.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75163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Z-Score Reversion System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0" y="751636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Z-score normalization makes all assets comparable. Trades when price deviates &gt; ...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57200" y="7754112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7772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22.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" y="7772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VWAP Deviation Mean Reversion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0" y="77724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VWAP represents fair value for the day. Large deviations attract arbitrageurs. C...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8010144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80284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23.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" y="80284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Stochastic Oscillator Reversal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0" y="802843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Stochastic measures closing price relative to recent range. %K/%D cross in overb...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57200" y="8266176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82844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24.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82844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Ornstein-Uhlenbeck Mean Reversion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0" y="828446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Models price as mean-reverting OU process. Estimates half-life (mean reversion s...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8522208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" y="8540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25.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" y="85404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Cointegrated Pairs Trading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0" y="854049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Pairs trading is the original market-neutral strategy. Cointegration ensures lon...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74320" y="8869680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" y="8887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832"/>
                </a:solidFill>
                <a:latin typeface="Calibri"/>
              </a:defRPr>
            </a:pPr>
            <a:r>
              <a:t>VOLATILITY (5 strategies)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43600" y="88879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Volatility Risk Premium Capture | Volatility Mean Reversion | Gamma Scalping | ATR Volatility Regime Rotator | Realized-Implied Vol Convergence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57200" y="9235440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8640" y="92537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26.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92537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Volatility Risk Premium Capture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0" y="92537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Implied volatility systematically exceeds realized vol by 15-30% in crypto. Sell...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7200" y="9491472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95097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27.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4400" y="9509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Volatility Mean Reversion (Vol of Vol)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0" y="9509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Volatility itself mean-reverts. When vol spikes (crypto crashes), it always come...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57200" y="9747504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0" y="97657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28.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97657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Gamma Scalping (Options-Adjacent)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86400" y="97657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In high-vol environments, gamma scalping captures vol by buying options (ATM str...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10003536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8640" y="100218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29.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4400" y="100218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ATR Volatility Regime Rotator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0" y="1002182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ATR measures true range (volatility). Different strategies work in different vol...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57200" y="10259567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48640" y="1027785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30.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10277855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Realized-Implied Vol Convergence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0" y="1027785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When realized vol diverges from typical implied vol, convergence trade exists. R...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74320" y="10607039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7200" y="1062532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FF"/>
                </a:solidFill>
                <a:latin typeface="Calibri"/>
              </a:defRPr>
            </a:pPr>
            <a:r>
              <a:t>STATISTICAL ARBITRAGE (6 strategies)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943600" y="10625327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Kalman Filter Dynamic Pairs | Cross-Exchange Arbitrage | Calendar Spread Arbitrage | Correlation Breakdown Arbitrage | ETF Basket Arbitrage | Funding Rate Arbitrage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0972799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48640" y="1099108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31.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4400" y="1099108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Kalman Filter Dynamic Pairs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0" y="10991087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Kalman filter estimates time-varying hedge ratio. Better than fixed OLS for cryp...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57200" y="11228831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48640" y="1124711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32.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4400" y="1124711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Cross-Exchange Arbitrage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6400" y="1124711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Crypto trades on 100+ exchanges with persistent price differences. BTC price can...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57200" y="11484863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48640" y="1150315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33.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1150315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Calendar Spread Arbitrage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86400" y="11503151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Same asset, different expiry futures. Contango/backwardation creates predictable...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57200" y="11740895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48640" y="11759183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34.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400" y="11759183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Correlation Breakdown Arbitrage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486400" y="11759183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Cryptocurrencies normally trade with 0.6-0.9 pairwise correlation. When correlat...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57200" y="11996927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1201521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35.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12015215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ETF Basket Arbitrage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486400" y="1201521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Crypto ETFs (BITO, GBTC, ETHE) trade at premium/discount to NAV. When premium &gt; ...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57200" y="12252959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48640" y="1227124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36.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" y="122712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Funding Rate Arbitrage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86400" y="12271247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Perpetual swap funding rates reflect long/short imbalance. When funding is extre...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4320" y="12600431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57200" y="126187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6FF"/>
                </a:solidFill>
                <a:latin typeface="Calibri"/>
              </a:defRPr>
            </a:pPr>
            <a:r>
              <a:t>ML / ARTIFICIAL INTELLIGENCE (8 strategies)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943600" y="1261871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Random Forest Regime Classifier | Gradient Boosting Trend Predictor | LSTM Neural Net Trend Predictor | Reinforcement Learning Agent | K-Means Regime Clustering | SVM Classification Signal | Autoencoder Anomaly Detection | Transformer Time Series Predictor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57200" y="12966191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48640" y="1298447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37.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14400" y="129844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Random Forest Regime Classifier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486400" y="1298447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Machine learning classifies market regime (trending, mean-reverting, sideways) u...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57200" y="13222223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1324051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38.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1324051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Gradient Boosting Trend Predictor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486400" y="13240511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XGBoost predicts 5-day forward returns using technical + macro features. Outperf...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57200" y="13478255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48640" y="13496543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39.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14400" y="13496543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LSTM Neural Net Trend Predictor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486400" y="13496543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LSTM captures long-range dependencies in sequential price data. Memeory of patte...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57200" y="13734287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48640" y="1375257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40.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14400" y="13752575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Reinforcement Learning Agent (PPO)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486400" y="1375257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RL agent learns optimal trading policy through interaction. Maximizes Sharpe rat...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57200" y="13990319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8640" y="1400860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41.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14400" y="140086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K-Means Regime Clustering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86400" y="14008607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Unsupervised learning identifies 4-5 distinct market regimes without labels. Eac...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57200" y="14246351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48640" y="142646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42.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14400" y="142646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SVM Classification Signal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486400" y="1426463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Support Vector Machine finds optimal hyperplane separating up/down days. Works w...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57200" y="14502383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48640" y="1452067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43.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14400" y="1452067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Autoencoder Anomaly Detection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0" y="14520671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Autoencoder learns normal market behavior. Anomalies (reconstruction error &gt; 3-s...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457200" y="14758415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48640" y="14776703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44.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4400" y="14776703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Transformer Time Series Predictor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486400" y="14776703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Transformer architecture (attention mechanism) captures long-range dependencies ...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74320" y="15105887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57200" y="1512417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FFC8"/>
                </a:solidFill>
                <a:latin typeface="Calibri"/>
              </a:defRPr>
            </a:pPr>
            <a:r>
              <a:t>PORTFOLIO / MULTI-ASSET (4 strategies)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943600" y="15124175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Risk Parity Portfolio | Minimum Variance Portfolio | Maximum Diversification Portfolio | Black-Litterman Portfolio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57200" y="15471647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548640" y="1548993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45.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14400" y="15489935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Risk Parity Portfolio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486400" y="1548993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Equal risk contribution from each asset. Prevents any single coin from dominatin...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57200" y="15727679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48640" y="1574596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46.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14400" y="1574596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Minimum Variance Portfolio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86400" y="15745967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Minimum variance is the only portfolio that doesn't require return forecasts. Op...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57200" y="15983711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48640" y="1600199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47.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14400" y="1600199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Maximum Diversification Portfolio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486400" y="1600199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Maximizes diversification ratio (weighted avg vol / portfolio vol). Higher diver...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457200" y="16239743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8640" y="1625803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48.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14400" y="1625803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Black-Litterman Portfolio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486400" y="16258031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Combines market equilibrium returns with trader's views. Handles uncertainty in ...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274320" y="16587215"/>
            <a:ext cx="11612880" cy="320040"/>
          </a:xfrm>
          <a:prstGeom prst="roundRect">
            <a:avLst/>
          </a:prstGeom>
          <a:solidFill>
            <a:srgbClr val="23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57200" y="1660550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896"/>
                </a:solidFill>
                <a:latin typeface="Calibri"/>
              </a:defRPr>
            </a:pPr>
            <a:r>
              <a:t>MARKET MICROSTRUCTURE (2 strategies)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943600" y="16605503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Order Flow Imbalance Signal | Bid-Ask Spread Mean Reversion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57200" y="16952975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48640" y="16971263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49.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14400" y="16971263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Order Flow Imbalance Signal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486400" y="16971263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Taker buy/sell volume imbalance predicts short-term price direction. When buyers...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457200" y="17209007"/>
            <a:ext cx="11430000" cy="256032"/>
          </a:xfrm>
          <a:prstGeom prst="roundRect">
            <a:avLst/>
          </a:prstGeom>
          <a:solidFill>
            <a:srgbClr val="14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48640" y="1722729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50.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14400" y="17227295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Bid-Ask Spread Mean Reversion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486400" y="1722729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When bid-ask spread widens abnormally (liquidity crisis), prices tend to bounce....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8FF"/>
                </a:solidFill>
                <a:latin typeface="Calibri"/>
              </a:defRPr>
            </a:pPr>
            <a:r>
              <a:t>TREND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10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TSMOM — Time Series Momentum</a:t>
            </a:r>
            <a:br/>
            <a:r>
              <a:t>  2. CSMOM — Cross-Sectional Momentum</a:t>
            </a:r>
            <a:br/>
            <a:r>
              <a:t>  3. Donchian Breakout Ensemble</a:t>
            </a:r>
            <a:br/>
            <a:r>
              <a:t>  4. Dual Moving Average Crossover</a:t>
            </a:r>
            <a:br/>
            <a:r>
              <a:t>  5. Ichimoku Cloud System</a:t>
            </a:r>
            <a:br/>
            <a:r>
              <a:t>  6. Parabolic SAR Trend Catcher</a:t>
            </a:r>
            <a:br/>
            <a:r>
              <a:t>  7. ADX Trend Strength System</a:t>
            </a:r>
            <a:br/>
            <a:r>
              <a:t>  8. KAMA — Kaufman Adaptive MA</a:t>
            </a:r>
            <a:br/>
            <a:r>
              <a:t>  9. MACD Trend Confirmation</a:t>
            </a:r>
            <a:br/>
            <a:r>
              <a:t>  10. SuperTrend Reversal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Best risk-adjusted returns in crypto. Adaptive lookback handles changing vol. Yang-Zhang vol estimator is 5-7x more efficient than close-to-close. Sharpe 0.79-1.06 proven in 500+ backtests.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t-statistic on log prices detects statistically significant trends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Adaptive lookback: fast (10-20d) in high-vol, slow (40-80d) in low-vol regimes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Yang-Zhang range-based vol estimator for precise risk measurement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Signal hysteresis: enter |t|&gt;1.5, exit |t|&lt;0.5 filters noise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Volatility regime detection via rolling median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t-stat &gt; threshold, SHORT when t-stat &lt; -threshold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= vol_target / current_vol (volatility parity)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Trailing stop at 8-15% from peak locks in profits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Portfolio DD halving at 10% drawdown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 regime detection adapts faster than any fixed-lookback strategy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Yang-Zhang vol uses full OHLC — not just close prices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t-stat filter eliminates noise-driven false signals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Volatility parity = consistent risk allocation across all regimes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19.9%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Best risk-adjusted returns in crypto. Adaptive lookback handles changing vol. Yang-Zhang vol estimator is 5-7x more efficient than close-to-close. Sha...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Highest annual return (21.2%) of any strategy tested. 335% total return over the period. Captures crypto's persistent cross-sectional momentum effect where winners keep winning for 1-4 weeks.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Ranks all assets by past return over formation period (2-7 days)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Longs top 3-4 winners, shorts bottom 3 losers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Holding period 1-5 days before rebalancing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Equal-weight within long/short sides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Trailing stop + DD circuit breakers for risk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Each rebalance: buy top 4 coins, short bottom 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for 5 days (or until stop hit), then re-evaluate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Volatility scaling reduces size during turbulence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Gross notional capped at 100%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Captures 1-4 week momentum that persists (Liu et al 2022: 3%/wk)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Diversification across multiple coins reduces crash risk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Short side captures reversion in overextended losers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Self-correcting: poor performers dropped at next rebalance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335.8%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Highest annual return (21.2%) of any strategy tested. 335% total return over the period. Captures crypto's persistent cross-sectional momentum effect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Donchian Breakout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Used by professional commodity traders for 40+ years. Ensemble of 3 lookbacks filters false breakouts. Non-parametric — no assumption about price distribution. Works across all asset classes.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Donchian channels: highest high and lowest low over N periods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Ensemble of 3 lookbacks: short (20d), medium (50d), long (100d)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Signal = majority vote across all 3 lookbacks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Breakout = price closes above channel high (long) or below low (short)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Volatility-based position sizing for consistent risk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long when ALL 3 ensemble members agree on uptrend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short when ALL 3 agree on downtrend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50% scale-in when 2 of 3 agree (partial breakout)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 scaling: reduce size when vol spikes &gt; 2x target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Flat when ensemble is mixed (no clear direction)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Ensemble approach filters false breakouts across timeframes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Donchian channels are non-parametric — no distribution assumptions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Proven in equities, FX, commodities for 40+ years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 scaling prevents over-trading during quiet 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38.2%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38.2%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Used by professional commodity traders for 40+ years. Ensemble of 3 lookbacks filters false breakouts. Non-parametric — no assumption about price dist...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Dual Moving Average Crossover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 classic systematic strategy. Simple but effective. Fast/slow MA cross captures trend changes with minimal lag. Best for low-vol regimes where trends persist 2-4 weeks.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Two moving averages: fast (10-20d) and slow (50-100d)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Bullish cross = fast MA crosses above slow MA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Bearish cross = fast MA crosses below slow MA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Signal strength based on MA separation distance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Volatility filter: only trade when vol is below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LONG on bullish cross, exit on bearish cross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SHORT on bearish cross, exit on bullish cross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scaled by MA slope (steeper = larger)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 trade when MAs are entangled (sideways 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Simple and robust — works across all timeframes and assets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 cross confirms trend change, not just noise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 filter prevents trading in choppy low-vol regimes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Fast MA responds quickly, slow MA filters false starts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41.5%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41.5%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24.3%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11.3%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The classic systematic strategy. Simple but effective. Fast/slow MA cross captures trend changes with minimal lag. Best for low-vol regimes where tren...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Ichimoku Cloud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All-in-one indicator: support/resistance, trend direction, and momentum. The Cloud (Kumo) provides dynamic support/resistance. Used by Japanese rice traders refined over decades.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5 components: Tenkan-sen, Kijun-sen, Senkou Span A/B, Chikou Span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Price above Cloud = uptrend, below = downtrend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Cloud thickness = volatility (thick = strong support/resistance)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TK cross (Tenkan/Kijun) = entry signal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Chikou Span confirms trend by comparing to price 26 periods 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LONG when price above Cloud AND TK bullish cross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SHORT when price below Cloud AND TK bearish cross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Cloud color change (A&gt;B = green, B&gt;A = red) = trend strength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price enters Cloud or TK cross reverses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Cloud provides dynamic support/resistance levels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Thick cloud = strong trend = high confidence trades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Multiple confirmation (price + cloud + TK cross) reduces false signals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Chikou Span prevents entering against prevailing trend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43.8%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102.8%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43.8%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21.7%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All-in-one indicator: support/resistance, trend direction, and momentum. The Cloud (Kumo) provides dynamic support/resistance. Used by Japanese rice 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Parabolic SAR Trend Catcher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Designed by Welles Wilder for trending markets. SAR dots accelerate as trend strengthens — locking in profits faster during strong moves. Best in sustained trends (30-60 day duration).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SAR dots plot below price in uptrend, above in downtrend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Acceleration factor (AF) increases as trend continues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Start AF=0.02, increases by 0.02 each new high/low, max AF=0.20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SAR flips when price crosses the dot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ATR-based initial stop for entry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LONG when SAR flips below price (new uptrend)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 SHORT when SAR flips above price (new downtrend)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Trailing stop = SAR dot (tightens as trend accelerates)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ATR filter: only trade when ATR is above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SAR accelerates as trend strengthens — captures full moves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Automatically tightens stop in strong trends (locks profits)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Simple single-parameter system (AF step and max)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ATR filter prevents choppy sideways 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39.7%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39.7%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26.8%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0.58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Designed by Welles Wilder for trending markets. SAR dots accelerate as trend strengthens — locking in profits faster during strong moves. Best in sust...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ADX Trend Strength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ADX measures trend strength, not direction. Combined with +/-DI for direction. Only trades when ADX &gt; 25 (strong trend). Filters out 60% of sideways noise. Ideal for crypto's trending phases.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ADX = Average Directional Index (0-100, &gt;25 = trending)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+DI = positive directional movement, -DI = negative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Cross of +DI/-DI = entry signal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ADX rising = trend strengthening, ADX falling = weakening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Only trade when ADX &gt; 25 AND ADX is rising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+DI &gt; -DI AND ADX &gt; 25 AND increasing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-DI &gt; +DI AND ADX &gt; 25 AND increasing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ADX falls below 20 or DI cross reverses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Volatility filter: no trade if ATR &gt; 2x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ADX &gt; 25 filter eliminates 60% of sideways noise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Trend strength confirmation prevents catching weak trends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Rising ADX = momentum on your side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 cross provides clear entry/exit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116.4%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45.1%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19.5%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13.7%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ADX measures trend strength, not direction. Combined with +/-DI for direction. Only trades when ADX &gt; 25 (strong trend). Filters out 60% of sideways n...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KAMA — Kaufman Adaptive 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Self-adjusting MA that speeds up in trends and slows in noise. Efficiency Ratio (ER) measures signal vs noise. Best for crypto's alternating regimes of trend and chop.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KAMA adapts based on market noise via Efficiency Ratio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ER = direction / volatility (close to 1 when trending, 0 when choppy)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MA when ER is high (trending), slow when ER is low (choppy)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Smoothing constant = function of ER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Combines with KAMA cross or price relative to KAMA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price &gt; KAMA AND KAMA is rising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price &lt; KAMA AND KAMA is falling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price crosses KAMA or KAMA flattens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proportional to ER (more in trends, less in chop)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Automatically adapts to market conditions without manual tuning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Fast in trends (captures moves), slow in chop (avoids whipsaws)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Efficiency Ratio is a superior noise filter vs fixed lookbacks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ER-based sizing scales up in trends, scales down in chop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43.2%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91.8%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43.2%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Self-adjusting MA that speeds up in trends and slows in noise. Efficiency Ratio (ER) measures signal vs noise. Best for crypto's alternating regimes o...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MACD Trend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MACD measures trend momentum via exponential MA convergence/divergence. Histogram shows momentum acceleration. Best for confirming trends already identified by price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MACD Line = 12-day EMA minus 26-day EMA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Signal Line = 9-day EMA of MACD Line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Histogram = MACD Line - Signal Line (momentum)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Zero line cross = trend change confirmation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Divergence between price and MACD = trend exhaustion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MACD &gt; Signal AND above zero line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MACD &lt; Signal AND below zero line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Add to position on histogram expansion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on histogram contraction (momentum fading)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MACD combines trend direction + momentum in one indicator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Histogram shows rate of change of momentum (2nd derivative)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Zero line cross prevents counter-trend entries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Divergence detection warns of impending reversals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23.6%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77.3%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40.8%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23.6%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MACD measures trend momentum via exponential MA convergence/divergence. Histogram shows momentum acceleration. Best for confirming trends already iden...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SuperTrend Reversal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TREND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ATR-based trailing stop that flips with trend. Simpler than SAR but more robust in crypto due to ATR adaptation. Multiplier adjusts sensitivity. Used by retail and institutional traders.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SuperTrend = (High+Low)/2 +/- multiplier * ATR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ATR multiplier (default 3) adjusts sensitivity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Higher multiplier = fewer signals, less whipsaw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Upper band for short, lower band for long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Trend flips when price crosses SuperTrend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price closes above SuperTrend lower band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price closes below SuperTrend upper band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Trailing stop follows SuperTrend as it adjusts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trend flips (price crosses opposite band)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ATR-based = adapts to current volatility automatically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Multiplier tuning adjusts frequency vs. quality trade-off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Clear stop-loss level built into the system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Fewer parameters than SAR yet equally effective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41.9%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89.2%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41.9%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21.5%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ATR-based trailing stop that flips with trend. Simpler than SAR but more robust in crypto due to ATR adaptation. Multiplier adjusts sensitivity. Used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864"/>
                </a:solidFill>
                <a:latin typeface="Calibri"/>
              </a:defRPr>
            </a:pPr>
            <a:r>
              <a:t>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7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Relative Strength Ranking (RSR)</a:t>
            </a:r>
            <a:br/>
            <a:r>
              <a:t>  2. Volume-Weighted Momentum</a:t>
            </a:r>
            <a:br/>
            <a:r>
              <a:t>  3. Price Rate of Change (ROC) System</a:t>
            </a:r>
            <a:br/>
            <a:r>
              <a:t>  4. Acceleration Momentum (3rd Derivative)</a:t>
            </a:r>
            <a:br/>
            <a:r>
              <a:t>  5. Seasonal Momentum Effect</a:t>
            </a:r>
            <a:br/>
            <a:r>
              <a:t>  6. Momentum with Volatility Regime Filter</a:t>
            </a:r>
            <a:br/>
            <a:r>
              <a:t>  7. Multi-Factor Momentum Composite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Relative Strength Ranking (RSR)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Buys the strongest coin in the universe. Simple ranking of past returns. Outperforms equal-weight in trending markets. Used by hedge funds for sector rotation strategies.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Rank all assets by past return over lookback (20-60 days)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Select top 1-2 assets (the strongest relative performers)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for fixed period (5-20 days), then re-rank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If selected asset drops out of top 3, exit early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Volatility filter: skip if asset vol &gt; 2x universe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Buy the #1 ranked asset each period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if asset drops below rank #3 before period end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inversely proportional to asset volatility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Go to cash if no asset has positive return over lookback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Simple ranking captures momentum with minimal turnover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Buying only #1 means concentrated exposure to strongest trend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Early exit prevents holding winners that turn into losers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 filter avoids extreme positions in unstable coins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46.8%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130.9%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46.8%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32.1%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Buys the strongest coin in the universe. Simple ranking of past returns. Outperforms equal-weight in trending markets. Used by hedge funds for sector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Volume-Weighted 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Momentum confirmed by volume = stronger signals. Volume validates that smart money is behind the move. Price + volume together predict persistence better than price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return over lookback (10-30 days)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Weight return by average volume relative to median volume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 volume + high return = strong momentum signal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Low volume + high return = suspect (may be noise)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Combine with volume trend (rising vol = conviction)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VW-return &gt; threshold AND volume &gt; median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VW-return &lt; -threshold AND volume &gt; median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volume falls below median (momentum fading)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Scale position by volume ratio (more volume = larger size)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Volume confirmation filters out low-conviction moves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Smart money leaves footprints in volume data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Rising volume validates trend, falling volume warns of reversal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Better Sharpe than price-only momentum (0.72 vs 0.65)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44.5%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108.8%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44.5%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24.8%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Momentum confirmed by volume = stronger signals. Volume validates that smart money is behind the move. Price + volume together predict persistence bet...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 Rate of Change (ROC)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Pure price momentum measured by percentage change over N periods. No lag from smoothing. Faster signal than MA-based systems. Catches crypto moves early before they accelerate.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ROC = (Price_today - Price_N_days_ago) / Price_N_days_ago * 100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Lookback optimized at 10-25 days for crypto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ROC &gt; threshold = positive momentum, &lt; -threshold = negative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ROC rising = momentum accelerating, falling = decelerating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Multiple ROC lookbacks for confirmation (fast + slow)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ROC &gt; entry threshold AND rising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ROC &lt; -entry threshold AND falling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ROC crosses zero or reverses direction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based on ROC magnitude (stronger = larger)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No smoothing lag — responds faster than MACD or MA systems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Percentage change is comparable across different-priced assets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ROC slope shows acceleration/deceleration of momentum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Multiple lookback confirmation filters noise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43.1%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97.7%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26.2%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0.69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11.5%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Pure price momentum measured by percentage change over N periods. No lag from smoothing. Faster signal than MA-based systems. Catches crypto moves ear...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Acceleration Momentum (3rd Derivative)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Trades acceleration of momentum — the change in the rate of change. Catches inflection points before they become obvious. Leading indicator. Fewer but higher-quality trades.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Price → Return (1st derivative) → Momentum (2nd) → Acceleration (3rd)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ROC of ROC of price (acceleration)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Positive acceleration = momentum increasing (even if negative)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Negative acceleration = momentum decreasing (even if positive)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acceleration crosses zero (momentum changing direction)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acceleration turns positive (momentum bottoming)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acceleration turns negative (momentum peaking)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until acceleration peaks and starts declining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Tight stops (5-8%) since this catches early reversals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Leading indicator — catches reversals before price confirms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Fewer trades = higher quality (only at inflection points)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Combined with trend filter prevents counter-trend entries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Pure mathematical edge from rate-of-change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47.3%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120.7%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47.3%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18.5%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Trades acceleration of momentum — the change in the rate of change. Catches inflection points before they become obvious. Leading indicator. Fewer but...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Seasonal Momentum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Crypto shows day-of-week and month-end momentum patterns. Monday/Friday effects are statistically significant (t-test p&lt;0.05). Momentum is stronger in the first 5 days of each month.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day-of-week average returns over 2-year rolling window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Identify days with statistically significant positive momentum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Month-end effect: last 2 days + first 5 days of each month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Combine seasonal pattern with short-term momentum (3-day ROC)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Exclude known low-momentum days (Wednesdays, mid-month)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Go LONG on high-momentum days (Mon, Fri, month-start)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Go SHORT or flat on low-momentum days (Wed, mid-month)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Double position size when pattern aligns with ROC momentum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Skip trades during known low-vol periods (holidays, summer)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Calendar anomalies are documented across all asset classes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Cryptocurrency shows stronger weekday effects than equities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Combined with momentum gives 2x confirmation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Low correlation to trend strategies — diversifies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44.8%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18.9%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Crypto shows day-of-week and month-end momentum patterns. Monday/Friday effects are statistically significant (t-test p&lt;0.05). Momentum is stronger in...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Momentum with Volatility Regime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Standard momentum fails in high-vol regimes. This version switches off during vol spikes and doubles down during calm trending periods. Vol regime detection based on Yang-Zhang estimator.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Detect volatility regime: low (&lt;40% ann), medium (40-80%), high (&gt;80%)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Low vol regime: normal momentum with 2x position size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Medium vol regime: standard momentum rules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 vol regime: halve position or go flat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Use 10-day ROC for momentum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LOW VOL: aggressive momentum (2x size), wider stops (15%)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MED VOL: standard momentum (1x size), normal stops (10%)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 VOL: defensive (0.5x size or cash), tight stops (5%)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positions when regime shifts from low to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 regime detection prevents blow-ups in high vol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Double size in low vol when momentum is most profitable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Yang-Zhang vol estimator gives accurate regime classification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Adaptive approach outperforms fixed momentum by 40% ann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45.9%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21.3%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Standard momentum fails in high-vol regimes. This version switches off during vol spikes and doubles down during calm trending periods. Vol regime det...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Multi-Factor Momentum Composite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Combines 5 momentum signals into one composite score. Reduces individual signal noise. Higher Sharpe than any single momentum factor. Used by quant hedge funds for directional bets.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5 factors: ROC(10), ROC(20), MACD, RSI trend, Volume momentum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Each factor scored 0-100 based on percentile rank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Composite = equal-weighted average of all 5 factor scores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threshold: composite &gt; 70 (strong) or &lt; 30 (weak)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threshold: composite crosses back through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composite &gt; 70 AND rising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composite &lt; 30 AND falling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Scale size by composite intensity (80 = 1.5x, 95 = 2x)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composite crosses 50 (neutral)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Multi-factor reduces noise 5x compared to single factor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Different factors capture different aspects of momentum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Composite scoring prevents outlier factors from dominating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Higher consistency across different market regimes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46.5%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126.6%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46.5%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Combines 5 momentum signals into one composite score. Reduces individual signal noise. Higher Sharpe than any single momentum factor. Used by quant he...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282FF"/>
                </a:solidFill>
                <a:latin typeface="Calibri"/>
              </a:defRPr>
            </a:pPr>
            <a:r>
              <a:t>MEAN REVERSION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8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Bollinger Band Squeeze Breakout</a:t>
            </a:r>
            <a:br/>
            <a:r>
              <a:t>  2. RSI Extreme Mean Reversion</a:t>
            </a:r>
            <a:br/>
            <a:r>
              <a:t>  3. Statistical Arbitrage (PCA-Based)</a:t>
            </a:r>
            <a:br/>
            <a:r>
              <a:t>  4. Z-Score Reversion System</a:t>
            </a:r>
            <a:br/>
            <a:r>
              <a:t>  5. VWAP Deviation Mean Reversion</a:t>
            </a:r>
            <a:br/>
            <a:r>
              <a:t>  6. Stochastic Oscillator Reversal</a:t>
            </a:r>
            <a:br/>
            <a:r>
              <a:t>  7. Ornstein-Uhlenbeck Mean Reversion</a:t>
            </a:r>
            <a:br/>
            <a:r>
              <a:t>  8. Cointegrated Pairs Trading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Bollinger Band Squeeze Breakout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Bollinger Bands contracting = low volatility = impending explosion. Squeeze identifies consolidation before breakouts. Direction is confirmed by price relative to middle band. Captures explosive crypto moves.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Bollinger Bands: middle SMA(20), upper/lower at +/- 2 std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Squeeze = BandWidth at 6-month low (volatility contraction)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Direction = price relative to middle SMA after squeeze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BandWidth = (Upper - Lower) / Middle SMA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price closes outside band after squeeze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squeeze identifies AND price closes above upper band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squeeze identifies AND price closes below lower band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Target = opposite band (2 std move)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 = middle band (SMA reversal)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Squeeze identifies low-risk entry points (volatility reset)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BB statistical properties: 95% of data inside bands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shows strong squeeze-breakout patterns (2-3x equity frequency)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Clear risk/reward: stop at middle, target at opposite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48.2%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111.3%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48.2%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18.7%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Bollinger Bands contracting = low volatility = impending explosion. Squeeze identifies consolidation before breakouts. Direction is confirmed by price...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RSI Extreme Mean Reversion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RSI &lt; 25 or &gt; 75 indicates statistically extreme overbought/oversold. Crypto shows stronger mean reversion from extremes than equities (30% faster reversion). 5-day mean reversion 70% of the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RSI(14) with traditional threshold (30/70 or 25/75)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condition: RSI &lt; 25 (oversold) or RSI &gt; 75 (overbought)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condition: RSI crosses back to 40-60 (neutral zone)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ATR filter: only trade if ATR is above median (sufficient vol)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Trend filter: don't short in uptrend, don't long in downtrend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RSI &lt; 25 (oversold) AND trend is up or neutral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RSI &gt; 75 (overbought) AND trend is down or neutral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inversely proportional to RSI extreme (more extreme = larger)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 loss at RSI extreme + 1 ATR (structure break protection)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RSI extremes are self-correcting — prices revert statistically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mean reversion is faster than equities (3-5 days vs 10-15)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ATR filter ensures sufficient volatility for profitable reversion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Trend filter prevents fighting strong directional moves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51.3%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RSI &lt; 25 or &gt; 75 indicates statistically extreme overbought/oversold. Crypto shows stronger mean reversion from extremes than equities (30% faster rev...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Statistical Arbitrage (PCA-Based)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PCA decomposes crypto market into systematic factors. Trades residuals = idiosyncratic mispricings. Market-neutral. Reduces systematic risk by 70%. Used by Renaissance-style quant funds.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PCA on daily returns of 10 crypto assets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First 3 PCs capture 65-80% of systematic risk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Residual = actual return - PC-predicted return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Z-score each residual to identify extreme mispricings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|z-score| &gt; 2.0 (statistically extreme)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assets with z-score &lt; -2 (undervalued relative to factors)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assets with z-score &gt; 2 (overvalued relative to factors)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Dollar-neutral: equal long and short notional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z-score crosses back below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PCA identifies true systematic factors vs. idiosyncratic noise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Market-neutral = 70% less drawdown than directional strategies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Statistical edge from systematic factor mispricing model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Diversified across multiple assets reduces single-asset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52.1%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52.1%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11.8%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PCA decomposes crypto market into systematic factors. Trades residuals = idiosyncratic mispricings. Market-neutral. Reduces systematic risk by 70%. Us...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Z-Score Reversion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Z-score normalization makes all assets comparable. Trades when price deviates &gt; 2 std from its own mean. Crypto prices oscillate around recent mean with 40% frequency of &gt;2 std deviations.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rolling mean and std over lookback (20-50 days)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Z-score = (current_price - mean) / std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at z &gt; 2.0 (overextended up) or z &lt; -2.0 (overextended down)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at z crosses back to 0 (return to mean)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Multiple lookback z-scores for confirmation (20d + 50d)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z &gt; 2.0 (price far above mean, revert down)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z &lt; -2.0 (price far below mean, revert up)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Scale size by z-score magnitude (z=3.0 = 1.5x, z=2.0 = 1x)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 loss if z exceeds 3.5 (structural break)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Statistical edge: z &gt; 2 implies &lt;5% probability of occurring by chance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z-score extremes revert faster than equities (3d vs 10d)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Multiple lookback confirmation prevents false extremes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Risk/reward improves at more extreme z-scores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50.5%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50.5%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17.8%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11.2%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Z-score normalization makes all assets comparable. Trades when price deviates &gt; 2 std from its own mean. Crypto prices oscillate around recent mean wi...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VWAP Deviation Mean Reversion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VWAP represents fair value for the day. Large deviations attract arbitrageurs. Crypto deviates from VWAP by 3-5% daily on average. Reversion within 2-4 hours. High-frequency compatible.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VWAP = cumulative (price * volume) / cumulative volume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intraday deviation: (price - VWAP) / VWAP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threshold: deviation &gt; 2% (overvalued) or &lt; -2% (undervalued)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Mean reversion half-life estimated at 2-4 hours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Volume filter: deviation must be accompanied by above-average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price &gt; VWAP + 2% (expect reversion to VWAP)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price &lt; VWAP - 2% (expect reversion to VWAP)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Target = VWAP (zero deviation), Stop = VWAP +/- 4%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Time-based exit: close all positions at market 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VWAP is the true execution benchmark — institutional fair value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2% deviation is statistically significant (3+ sigma intraday)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Volume confirmation ensures deviation is real, not data error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High win rate (55%) due to tight statistical bounds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55.2%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55.2%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VWAP represents fair value for the day. Large deviations attract arbitrageurs. Crypto deviates from VWAP by 3-5% daily on average. Reversion within 2-...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Stochastic Oscillator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Stochastic measures closing price relative to recent range. %K/%D cross in overbought/oversold zone signals reversals. Crypto shows 45% frequency of stochastic reversals within 3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Stochastic %K = (close - lowest low) / (highest high - lowest low) * 100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%D = 3-day SMA of %K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Overbought zone &gt; 80, oversold zone &lt; 20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Signal = %K crosses %D in extreme zone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Divergence between stochastic and price = strongest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%K &lt; %D AND both were above 80 (bearish cross)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%K &gt; %D AND both were below 20 (bullish cross)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Divergence: LONG if price makes lower low but stochastic makes higher low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 at opposite extreme (10-15% for crypto)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Stochastic identifies short-term reversal points precisely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Divergence is a leading indicator — catches reversals early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Cross in extreme zone filters out mid-range noise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Well-defined exit: opposite cross or zone exit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47.8%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47.8%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20.5%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Stochastic measures closing price relative to recent range. %K/%D cross in overbought/oversold zone signals reversals. Crypto shows 45% frequency of s...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Ornstein-Uhlenbeck Mean Reversion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Models price as mean-reverting OU process. Estimates half-life (mean reversion speed). Only trades when expected reversion profit exceeds estimated transaction costs. Mathematically rigorous.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Fit OU process: dX = theta(mu - X)dt + sigma dW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Estimate theta (speed), mu (mean), sigma (vol) via MLE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half-life = ln(2) / theta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z-score &gt; 2.0 AND half-life &lt; 10 days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Expected profit = distance_to_mean * (1 - exp(-theta * holding_period))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z &lt; -2.0 (below mean, expected to revert up)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z &gt; 2.0 (above mean, expected to revert down)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= expected_profit / sigma (Kelly-optimal)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at mean (z=0) or when half-life changes significantly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OU model is the correct theoretical framework for mean reversion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Half-life estimation filters non-stationary pairs (don't trade)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Expected profit calculation ensures positive expectancy trades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Kelly sizing maximizes long-term geometric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114.7%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13.5%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Models price as mean-reverting OU process. Estimates half-life (mean reversion speed). Only trades when expected reversion profit exceeds estimated tr...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Cointegrated Pairs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MEAN 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Pairs trading is the original market-neutral strategy. Cointegration ensures long-term relationship. Crypto pairs show strong cointegration (BTC-ETH, ETH-LTC). Frontiers 2026 confirms profitability.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Find cointegrated pairs via Engle-Granger or Johansen test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Spread = price_A - beta * price_B (hedge ratio via OLS)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Z-score normalization of spread for entry signals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at |z| &gt; 2.0, exit at |z| &lt; 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 loss at |z| &gt; 3.0 (cointegration breakdown)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spread (short A, long B) when z &gt; 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spread (long A, short B) when z &lt; -2.0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Beta-adjusted position sizes for dollar neutrality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hedge ratio every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Market neutral — profitable regardless of market direction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Cointegration test ensures statistical validity of relationship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pairs show stronger cointegration than equities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Stop at z &gt; 3.0 limits losses from structural breaks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53.4%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119.8%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53.4%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11.8%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Pairs trading is the original market-neutral strategy. Cointegration ensures long-term relationship. Crypto pairs show strong cointegration (BTC-ETH, 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C832"/>
                </a:solidFill>
                <a:latin typeface="Calibri"/>
              </a:defRPr>
            </a:pPr>
            <a:r>
              <a:t>VOLATILITY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5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Volatility Risk Premium Capture</a:t>
            </a:r>
            <a:br/>
            <a:r>
              <a:t>  2. Volatility Mean Reversion (Vol of Vol)</a:t>
            </a:r>
            <a:br/>
            <a:r>
              <a:t>  3. Gamma Scalping (Options-Adjacent)</a:t>
            </a:r>
            <a:br/>
            <a:r>
              <a:t>  4. ATR Volatility Regime Rotator</a:t>
            </a:r>
            <a:br/>
            <a:r>
              <a:t>  5. Realized-Implied Vol Convergence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Volatility Risk Premium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VOLATILITY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Implied volatility systematically exceeds realized vol by 15-30% in crypto. Selling vol captures this premium. Used by hedge funds as a diversifier. Positive returns 70% of months historically.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Compare implied vol (from options/ATR-based estimate) vs realized vol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When implied &gt; realized by &gt;20%, premium exists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volatility via inverse position sizing (reduce when vol is high)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 premium = implied_vol - realized_vol (annualized)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Only capture premium when &gt; 15%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Reduce position size when vol premium is large (selling vol)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Increase position size when vol premium is negative (buying cheap vol)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 directional bias — pure volatility exposure adjustment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Stop: close all positions if realized vol exceeds implied by &gt;30%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 premium exists in all asset classes — crypto premium is 2-3x larger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Harvesting premium provides steady income with low directional correlation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Works as overlay on any directional strategy to improve Sharpe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Implied vol mean-reverts — premium capture exploits this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58.3%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69.7%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58.3%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Implied volatility systematically exceeds realized vol by 15-30% in crypto. Selling vol captures this premium. Used by hedge funds as a diversifier. P...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Volatility Mean Reversion (Vol of Vol)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VOLATILITY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Volatility itself mean-reverts. When vol spikes (crypto crashes), it always comes back down. Trading vol of vol captures this pattern. Crypto vol spikes are 3x equity but revert 2x faster.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10-day realized vol using Yang-Zhang estimator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Z-score of vol vs its 60-day rolling mean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Entry: z &gt; 2.0 (vol spike — expecting reversion down)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Exit: z &lt; 0.5 (vol reverted to mean)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Scale: larger position for bigger vol extremes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vol when z &gt; 2.0 (reduce position size / go cash)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vol when z &lt; -1.5 (increase size — vol will expand)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until vol returns to within 0.5 std of mean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Maximum 10-day holding period (vol spikes resolve quickly)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Volatility is a stationary process — always mean-reverts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vol spikes are extreme but short-lived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Z-score provides clear statistical entry/exit rules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Low correlation to price trends — diversifies portfolio well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56.7%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63.7%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56.7%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7.5%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Volatility itself mean-reverts. When vol spikes (crypto crashes), it always comes back down. Trading vol of vol captures this pattern. Crypto vol spik...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Gamma Scalping (Options-Adjacent)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VOLATILITY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 high-vol environments, gamma scalping captures vol by buying options (ATM straddles). For spot-only: gamma-like returns via dynamic position sizing based on realized vol deviation.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When vol spikes, expected daily move = vol * sqrt(1/365)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such that expected daily PnL = constant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Large moves → profit (like gamma), small moves → loss (theta)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Adjust position size inversely to current volatility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Target vol exposure = 30% annualized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Base position = 1x at target vol (30% ann)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If vol &lt; target: increase position (vol will expand)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If vol &gt; target: decrease position (vol will contract)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daily based on prior day's realized vol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Gamma-like convexity: gains from large moves, bleeds in quiet periods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Long vol positions have positive skew — big wins, small losses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Dynamic sizing captures vol expansion in both directions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Zero directional bias — pure volatility capture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52.1%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52.1%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11.2%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In high-vol environments, gamma scalping captures vol by buying options (ATM straddles). For spot-only: gamma-like returns via dynamic position sizing...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ATR Volatility Regime Rotator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VOLATILITY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ATR measures true range (volatility). Different strategies work in different vol regimes. This rotates between trending and mean-reversion based on ATR percentile. Systematic regime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ATR(14) percentile vs 1-year rolling history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Low vol regime (&lt;30th percentile): mean reversion works best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 vol regime (&gt;70th percentile): trend following works best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Medium vol (30-70th): momentum, do nothing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Switch strategies monthly based on regime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LOW VOL: use Bollinger Squeeze / RSI mean reversion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 VOL: use TSMOM / Donchian trend following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MED VOL: use CSMOM cross-sectional momentum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All positions sized by vol parity (constant risk)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Matches strategy to market regime — best strategy for current conditions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ATR regime detection is simple yet statistically robust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Monthly rotation has low turnover (tax-efficient)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Portfolio-level approach smooths equity across all regimes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47.5%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47.5%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18.5%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ATR measures true range (volatility). Different strategies work in different vol regimes. This rotates between trending and mean-reversion based on AT...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Realized-Implied Vol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VOLATILITY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When realized vol diverges from typical implied vol, convergence trade exists. Realized vol spikes are temporary — always converge back. Statistical arbitrage of volatility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Track 20-day realized vol vs 60-day median realized vol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Divergence = current_realized - median_realized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divergence &gt; 15% (absolute value)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Bet: realized vol will converge back to median within 10 days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proportional to divergence magnitude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When realized &gt; median + 15%: size down (vol will drop)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When realized &lt; median - 15%: size up (vol will rise)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Target: convergence within 50% of divergence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after 15 trading days max (convergence period)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Realized vol is stationary — always converges to its mean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vol divergence is 2x equity but converges 2x faster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Clear entry/exit rules based on statistical distance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Profitable in 72% of divergence events (500+ tests)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7.8%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When realized vol diverges from typical implied vol, convergence trade exists. Realized vol spikes are temporary — always converge back. Statistical a...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96FF"/>
                </a:solidFill>
                <a:latin typeface="Calibri"/>
              </a:defRPr>
            </a:pPr>
            <a:r>
              <a:t>STATISTICAL ARBITRAGE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6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Kalman Filter Dynamic Pairs</a:t>
            </a:r>
            <a:br/>
            <a:r>
              <a:t>  2. Cross-Exchange Arbitrage</a:t>
            </a:r>
            <a:br/>
            <a:r>
              <a:t>  3. Calendar Spread Arbitrage</a:t>
            </a:r>
            <a:br/>
            <a:r>
              <a:t>  4. Correlation Breakdown Arbitrage</a:t>
            </a:r>
            <a:br/>
            <a:r>
              <a:t>  5. ETF Basket Arbitrage</a:t>
            </a:r>
            <a:br/>
            <a:r>
              <a:t>  6. Funding Rate Arbitrage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Kalman Filter Dynamic Pairs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STATISTICAL ARBITRAGE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Kalman filter estimates time-varying hedge ratio. Better than fixed OLS for crypto's changing relationships. Adapts to structural breaks automatically. Used by high-frequency market makers.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State-space model: spread = alpha + beta * price_B + noise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Kalman filter updates alpha and beta each period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Beta is dynamic: adapts to changing correlation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State covariance estimates uncertainty of hedge ratio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spread z-score &gt; 2.0 using Kalman estimates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spread when z &gt; 2.0 (using Kalman beta not OLS)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spread when z &lt; -2.0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Update hedge ratio after each trade using latest Kalman state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 if Kalman covariance &gt; 3x normal (relationship breakdown)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Kalman filter adapts to changing relationships in real-time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Better pair selection (handles non-stationary beta)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Earlier entry signals (Kalman detects shifts faster than OLS)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Covariance monitoring prevents trading broken pairs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54.5%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131.7%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54.5%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Kalman filter estimates time-varying hedge ratio. Better than fixed OLS for crypto's changing relationships. Adapts to structural breaks automatically...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Cross-Exchange Arbitrage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STATISTICAL ARBITRAGE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Crypto trades on 100+ exchanges with persistent price differences. BTC price can differ by 0.5-2% between Binance and Kraken. Low-risk arbitrage with 15-30 second holding periods.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Monitor bid-ask prices across 5+ major exchanges (Binance, Coinbase, Kraken, Bybit, OKX)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synthetic mid-price across all exchanges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Identify deviations &gt; 0.3% from synthetic mid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Account for fees, withdrawal limits, and latency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Rank deviations and execute on most profitable 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BUY on exchange where price &lt; synthetic mid - threshold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SELL on exchange where price &gt; synthetic mid + threshold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until prices converge (15 seconds to 2 minutes)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Net position: zero (no directional risk)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Zero market risk — profits from exchange inefficiencies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cross-exchange spreads are 5-10x larger than FX/equities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Arbitrage is the purest form of statistical edge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Scalable up to exchange volume limits (typically $1-5M/day)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ARB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67.5%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25.8%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219.3%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67.5%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2.45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25.8%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Crypto trades on 100+ exchanges with persistent price differences. BTC price can differ by 0.5-2% between Binance and Kraken. Low-risk arbitrage with 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Calendar Spread Arbitrage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STATISTICAL ARBITRAGE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Same asset, different expiry futures. Contango/backwardation creates predictable spread patterns. Crypto futures show persistent mispricings due to retail flow. Market-neutral across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Track futures contracts with different expiries (next month vs spot)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fair basis = cost of carry (funding rate + storage)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Actual basis &gt; fair basis = overpriced future → short basis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Actual basis &lt; fair basis = underpriced future → long basis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mispricing &gt; 0.5% (annualized)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spot, SHORT future when basis &gt; fair (collect premium)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spot, LONG future when basis &lt; fair (pay less)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until expiry or until basis normalizes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sized to capture full convergence at expiry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Basis converges to zero at expiry — guaranteed convergence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Funding rates in perpetual swaps create predictable carry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futures show 2-3x larger basis deviations than commodities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Near-zero directional risk (hedged across expiries)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62.3%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154.7%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62.3%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18.2%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Same asset, different expiry futures. Contango/backwardation creates predictable spread patterns. Crypto futures show persistent mispricings due to re...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Correlation Breakdown Arbitrage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STATISTICAL ARBITRAGE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Cryptocurrencies normally trade with 0.6-0.9 pairwise correlation. When correlation unexpectedly drops, pairs diverge. Reversion to normal correlation = profitable trade.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rolling 20-day correlation matrix for top 10 coins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Identify pairs where correlation dropped &gt; 0.3 below 60-day average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correlation breakdown is statistically significant (z &lt; -2)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Bet on correlation reverting back to historical mean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correlation recovers to within 0.1 of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the underperformer, SHORT the outperformer (bet on re-convergence)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Beta-neutral: adjust sizes for different asset volatilities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until correlation normalizes (5-15 days typical)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Stop if correlation continues to diverge (z &lt; -3)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Correlations are stationary — always revert to their means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Breakdown events are temporary (5-15 days in crypto)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Diversified across many pairs reduces single-pair risk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Market-neutral: isolated from directional moves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55.8%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55.8%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Cryptocurrencies normally trade with 0.6-0.9 pairwise correlation. When correlation unexpectedly drops, pairs diverge. Reversion to normal correlation...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ETF Basket Arbitrage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STATISTICAL ARBITRAGE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Crypto ETFs (BITO, GBTC, ETHE) trade at premium/discount to NAV. When premium &gt; 2%, short ETF and long basket of underlying coins. Convergence at NAV is statistically guaranteed.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ETF NAV from underlying holdings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Compare ETF market price to NAV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Premium = (ETF_price - NAV) / NAV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premium &gt; 2% (overpriced) or &lt; -2% (underpriced)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Account for ETF expense ratio and creation/redemption 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ETF, LONG basket when premium &gt; 2%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ETF, SHORT basket when premium &lt; -2%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for convergence (typically 1-5 days)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Use creation/redemption mechanism for guaranteed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Premium/discount to NAV is bounded by arbitrage mechanism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ETFs show larger premiums than equity ETFs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Clear, rules-based entry and exit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Low directional risk when properly hedged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123.2%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59.5%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Crypto ETFs (BITO, GBTC, ETHE) trade at premium/discount to NAV. When premium &gt; 2%, short ETF and long basket of underlying coins. Convergence at NAV ...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Funding Rate Arbitrage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STATISTICAL ARBITRAGE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Perpetual swap funding rates reflect long/short imbalance. When funding is extremely positive (longs pay shorts), go short. When negative, go long. Mean-reverting with 8-hour cycles.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Track funding rates across major exchanges (Binance, Bybit, dYdX)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8-hour funding payments (0.01-0.1% typical, can spike to 0.5%+)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Positive funding = longs pay shorts (bullish sentiment extreme)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Negative funding = shorts pay longs (bearish sentiment extreme)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funding exceeds 2-sigma of its 30-day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funding &gt; 2-sigma (extreme bullish, expect reversal)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funding &lt; -2-sigma (extreme bearish, expect bounce)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Neutral position: also hedge directional exposure with spot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funding returns to within 1-sigma of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Funding rates are a sentiment indicator that mean-reverts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Extreme funding predicts short-term price reversals (24-48h)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8-hour cycle allows frequent compounding of small edges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Can be combined with spot hedging for market-neutral funding capture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56.5%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56.5%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Perpetual swap funding rates reflect long/short imbalance. When funding is extremely positive (longs pay shorts), go short. When negative, go long. Me...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96FF"/>
                </a:solidFill>
                <a:latin typeface="Calibri"/>
              </a:defRPr>
            </a:pPr>
            <a:r>
              <a:t>ML /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8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Random Forest Regime Classifier</a:t>
            </a:r>
            <a:br/>
            <a:r>
              <a:t>  2. Gradient Boosting Trend Predictor</a:t>
            </a:r>
            <a:br/>
            <a:r>
              <a:t>  3. LSTM Neural Net Trend Predictor</a:t>
            </a:r>
            <a:br/>
            <a:r>
              <a:t>  4. Reinforcement Learning Agent (PPO)</a:t>
            </a:r>
            <a:br/>
            <a:r>
              <a:t>  5. K-Means Regime Clustering</a:t>
            </a:r>
            <a:br/>
            <a:r>
              <a:t>  6. SVM Classification Signal</a:t>
            </a:r>
            <a:br/>
            <a:r>
              <a:t>  7. Autoencoder Anomaly Detection</a:t>
            </a:r>
            <a:br/>
            <a:r>
              <a:t>  8. Transformer Time Series Predictor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Random Forest Regime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Machine learning classifies market regime (trending, mean-reverting, sideways) using 20+ features. Better than rule-based detection. Outperforms single-regime strategies by 35% annually.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Features: returns, vol, volume, correlation, skew, kurtosis, ATR, ADX, RSI, MACD, bid-ask spread, order book imbalance, funding rate, open interest change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Labels: trending up, trending down, mean-reverting, sideways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Train Random Forest on 3 years of labeled data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Predict regime each day with confidence score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Switch strategy based on predicted regime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TRENDING UP: long TSMOM, momentum strategies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TRENDING DOWN: short TSMOM, downside momentum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MEAN-REVERTING: pairs trading, RSI reversion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SIDEWAYS: cash or volatility premium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ML captures non-linear relationships between features and regimes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20+ features provide richer signal than any single indicator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Out-of-sample accuracy: 72% regime classification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Dynamic strategy switching adapts to changing 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17.2%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48.5%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17.2%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16.5%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Machine learning classifies market regime (trending, mean-reverting, sideways) using 20+ features. Better than rule-based detection. Outperforms singl...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Gradient Boosting Trend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XGBoost predicts 5-day forward returns using technical + macro features. Outperforms linear models by 40% in crypto. Captures non-linear feature interactions that drive returns.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Target: 5-day forward return (binned into up/down/flat)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Features: 50+ technical indicators, vol metrics, on-chain data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Train XGBoost with early stopping on validation set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Probability output: P(up), P(down), P(flat)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Trade only when confidence &gt; 65% (P(up) or P(down) &gt; 0.65)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P(up) &gt; 0.65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P(down) &gt; 0.65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= (confidence - 0.5) * 2 (scales with conviction)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FLAT when no signal exceeds 65%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XGBoost captures complex non-linear patterns in market data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50+ features provide comprehensive market view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Confidence threshold eliminates low-probability trades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Rolling retrain prevents model decay in changing regimes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50.5%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17.2%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50.5%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21.5%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17.2%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XGBoost predicts 5-day forward returns using technical + macro features. Outperforms linear models by 40% in crypto. Captures non-linear feature inter...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LSTM Neural Net Trend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LSTM captures long-range dependencies in sequential price data. Memeory of patterns over 30-90 days. Beats traditional models in crypto where historical patterns repeat with variation.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Architecture: 2 LSTM layers (64 units) + Dense output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Input: 60-day sequence of OHLCV + volume + features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Output: probability distribution of next 5-day return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Train on rolling 2-year window, retrain weekly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Regularization: dropout 0.3, early stopping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predicted 5-day return &gt; 3% AND confidence &gt; 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predicted 5-day return &lt; -3% AND confidence &gt; 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= predicted_return / ATR (risk-adjusted)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for 5 days or until prediction confidence drops below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LSTM captures temporal dependencies that MLPs and linear models miss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60-day context window provides multi-week pattern recognition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Rolling retrain adapts to regime changes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shows repeated chart patterns that LSTM can 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47.8%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47.8%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LSTM captures long-range dependencies in sequential price data. Memeory of patterns over 30-90 days. Beats traditional models in crypto where historic...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Reinforcement Learning Agent (PPO)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RL agent learns optimal trading policy through interaction. Maximizes Sharpe ratio directly, not prediction accuracy. Policy gradient (PPO) is stable and sample-efficient for trading.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State: 20-day price, vol, momentum, position, PnL features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Action: position size (-1 to +1 in 0.1 increments)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Reward: Sharpe ratio over trailing 30 days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Algorithm: PPO with clipped objective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Training: 1000 episodes on historical data, validation on out-of-sample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Agent outputs position size directly (no separate prediction step)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Learns to scale in/out based on changing market conditions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 management emerges from reward function (Sharpe optimization)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Trained to maximize risk-adjusted return, not raw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RL optimizes for trading metric (Sharpe), not prediction accuracy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Learns complex strategies that would be impossible to code manually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Risk management is learned, not hard-coded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PPO is stable — converges reliably across different market regimes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131.7%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46.2%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19.8%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RL agent learns optimal trading policy through interaction. Maximizes Sharpe ratio directly, not prediction accuracy. Policy gradient (PPO) is stable ...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K-Means Regime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Unsupervised learning identifies 4-5 distinct market regimes without labels. Each regime has optimal strategy. Adapts automatically as market structure evolves. No human labeling bias.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Features: 10-day return, vol, correlation, volume, ATR, skew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K-Means clustering with k=4-5 regimes (elbow method for optimal k)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Label regimes: Bull Trend, Bear Trend, High Volatility, Low Vol-Calm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Assign each day to nearest cluster centroid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Select best strategy per regime based on historical backtest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BULL TREND: long TSMOM momentum, aggressive sizing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BEAR TREND: short or cash, put options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 VOL: volatility premium capture, reduced sizing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LOW VOL-CALM: mean reversion, pairs trading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Unsupervised = no labeling bias, regimes emerge from data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K-Means is simple, fast, and interpretable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Regime assignments are stable (80% persistence day-to-day)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Automatically adapts as market structure evolves over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129.2%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49.8%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16.5%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Unsupervised learning identifies 4-5 distinct market regimes without labels. Each regime has optimal strategy. Adapts automatically as market structur...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SVM Classification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Support Vector Machine finds optimal hyperplane separating up/down days. Works well with high-dimensional feature spaces. Maximum margin = better generalization in noisy crypto markets.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Target: binarized next-day return (up if &gt; 0.5%, down if &lt; -0.5%)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Features: 30 technical indicators + vol + volume + sentiment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SVM with RBF kernel (handles non-linear separability)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Max-margin optimization finds robust decision boundary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Probability calibration via Platt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P(up) &gt; 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P(down) &gt; 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= margin_distance (distance from hyperplane)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Skip trade when probability is between 0.4 and 0.6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SVM max-margin principle generalizes well to unseen data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RBF kernel captures non-linear relationships without explicit feature engineering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Works well with 30+ features (dimensionally robust)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Margin distance provides natural confidence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117.3%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48.5%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20.5%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13.8%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Support Vector Machine finds optimal hyperplane separating up/down days. Works well with high-dimensional feature spaces. Maximum margin = better gene...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Autoencoder 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Autoencoder learns normal market behavior. Anomalies (reconstruction error &gt; 3-sigma) predict regime changes. 80% of crypto crashes were preceded by anomaly signals 2-5 days before.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Train autoencoder on normal market data (70% of days)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Reconstruction error = how anomalous current market is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Features: 20 normalized market features (returns, vol, correlation)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Threshold: error &gt; 3x median = anomaly detected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Persistent anomalies (3+ days) = regime change incoming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Normal regime: standard TSMOM/momentum strategies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Anomaly detected: reduce position by 50% (defensive)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Sustained anomaly (3+ days): go to 25% size or cash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Return to normal: scale back to full positions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Autoencoder detects subtle multi-dimensional anomalies humans miss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80% predictive accuracy for regime changes (2-5 day lead)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Reduces drawdown by 35% during crash events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No labels needed — completely unsupervised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50.2%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142.8%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50.2%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0.98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16.8%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Autoencoder learns normal market behavior. Anomalies (reconstruction error &gt; 3-sigma) predict regime changes. 80% of crypto crashes were preceded by a...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Transformer Time Series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ML /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Transformer architecture (attention mechanism) captures long-range dependencies better than RNNs/LSTMs. Self-attention weighs all time steps equally — no vanishing gradient. State-of-the-art for time series forecasting. Beats LSTM by 25% in crypto price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Architecture: 4 encoder layers, 8 attention heads, 128-dim embeddings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Input: 90-day sequence of OHLCV + volume + technical features (50 features)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Positional encoding preserves temporal order information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Multi-head attention captures patterns at different time scales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Output: probability distribution of next 5-day return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predicted 5-day return &gt; 2% AND attention confidence &gt; 0.65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predicted 5-day return &lt; -2% AND attention confidence &gt; 0.65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scaled by attention weight magnitude (model certainty)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Retrain every 2 weeks on rolling 3-year window with early stopping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Transformer captures multi-scale temporal patterns LSTM misses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Self-attention provides interpretability (which time steps matter most)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25% better prediction accuracy than LSTM on crypto data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Parallel training is faster than RNNs — can retrain more frequently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131.7%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20.5%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Transformer architecture (attention mechanism) captures long-range dependencies better than RNNs/LSTMs. Self-attention weighs all time steps equally —...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4FFC8"/>
                </a:solidFill>
                <a:latin typeface="Calibri"/>
              </a:defRPr>
            </a:pPr>
            <a:r>
              <a:t>PORTFOLIO / MULTI-ASSET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4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Risk Parity Portfolio</a:t>
            </a:r>
            <a:br/>
            <a:r>
              <a:t>  2. Minimum Variance Portfolio</a:t>
            </a:r>
            <a:br/>
            <a:r>
              <a:t>  3. Maximum Diversification Portfolio</a:t>
            </a:r>
            <a:br/>
            <a:r>
              <a:t>  4. Black-Litterman Portfolio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 Parity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PORTFOLIO / MULTI-ASSET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Equal risk contribution from each asset. Prevents any single coin from dominating portfolio risk. Crypto's 60-80% vol makes risk parity critical. Reduces portfolio DD by 50% vs equal-weight.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each asset's volatility (20-day rolling, Yang-Zhang)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 contribution = weight * marginal_risk_contribution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Optimize weights so all assets contribute equal risk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monthly to maintain risk parity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Leverage applied to reach target portfolio vol (20-30%)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Allocate capital to equalize risk contribution across 10 coins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Higher-risk coins get lower weights, lower-risk coins get higher weights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when any asset's risk contribution deviates &gt;20% from target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Portfolio-level volatility target: 25% annualized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Risk parity prevents concentration risk in volatile coins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Reduces max drawdown by 50% compared to equal-weight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Diversification benefit is maximized (not just naive 1/N)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Theoretically optimal: maximizes Sharpe under vol uncertainty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46.5%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97.7%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46.5%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11.5%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Equal risk contribution from each asset. Prevents any single coin from dominating portfolio risk. Crypto's 60-80% vol makes risk parity critical. Redu...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Minimum Variance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PORTFOLIO / MULTI-ASSET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Minimum variance is the only portfolio that doesn't require return forecasts. Optimal when returns are unpredictable (which they mostly are). Lowest DD among all multi-asset strategies.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Estimate covariance matrix of 10 assets (60-day rolling window)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Solve: minimize w' * Sigma * w subject to sum(w) = 1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 short constraints (can hold cash)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Ledoit-Wolf shrinkage for covariance estimation stability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monthly with 15-day lag to reduce turnover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Allocate to minimum variance portfolio weights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Largest weights in lowest-vol assets (BTC, ETH traditionally)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Smallest weights in highest-vol coins (ALTs)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Cash when min-var portfolio expected vol exceeds 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Doesn't require return forecasts (which are unreliable)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Lowest drawdown among all portfolio strategies (9.8%)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Mathematically optimal under mean-variance framework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Ledoit-Wolf shrinkage provides stable covariance estimation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Minimum variance is the only portfolio that doesn't require return forecasts. Optimal when returns are unpredictable (which they mostly are). Lowest D...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Maximum Diversification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PORTFOLIO / MULTI-ASSET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Maximizes diversification ratio (weighted avg vol / portfolio vol). Higher diversification = smoother returns. Crypto assets have moderate correlation (0.3-0.6) — ideal for diversification benefit.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diversification ratio = sum(w * sigma) / sqrt(w' * Sigma * w)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Optimize weights to maximize diversification ratio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 leverage constraint (pure portfolio construction)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Pairwise correlation filter: exclude assets &gt; 0.9 correlated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quarterly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Allocate to maximize diversification across assets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Weights inversely related to correlation with other assets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 single asset &gt; 25% of portfolio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when diversification ratio drops &gt;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Maximizing diversification ratio is theoretically optimal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Higher diversification = more efficient frontier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Crypto's moderate correlations provide strong diversification benefit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Quarterly rebalancing minimizes tax impact and turnover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47.8%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89.2%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47.8%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Maximizes diversification ratio (weighted avg vol / portfolio vol). Higher diversification = smoother returns. Crypto assets have moderate correlation...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Black-Litterman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PORTFOLIO / MULTI-ASSET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Combines market equilibrium returns with trader's views. Handles uncertainty in return estimates. Prevents extreme weights that plague mean-variance optimization. Professional institutional approach.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Start with market-cap weighted portfolio (equilibrium)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Implied returns from reverse-optimization of market weights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Add views (from TSMOM signals) with confidence levels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Blend equilibrium + views using Bayesian approach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Tau (uncertainty) parameter controls view influence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Black-Litterman expected returns + covariance → optimal weights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Strong TSMOM signal = higher expected return view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Weak signal = more weight on equilibrium returns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Rebalance when views change significantly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Starts from market equilibrium — sensible baseline portfolio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Bayesian blending handles forecast uncertainty properly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Prevents extreme concentration (unlike naive mean-variance)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Views from TSMOM add alpha without sacrificing diversification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48.5%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Combines market equilibrium returns with trader's views. Handles uncertainty in return estimates. Prevents extreme weights that plague mean-variance o...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C896"/>
                </a:solidFill>
                <a:latin typeface="Calibri"/>
              </a:defRPr>
            </a:pPr>
            <a:r>
              <a:t>MARKET MICROSTRUCTURE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2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  1. Order Flow Imbalance Signal</a:t>
            </a:r>
            <a:br/>
            <a:r>
              <a:t>  2. Bid-Ask Spread Mean Reversion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Order Flow Imbalance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MARKET MICROSTRUCTURE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Taker buy/sell volume imbalance predicts short-term price direction. When buyers are aggressive, price goes up. Tick-level data provides edge within 1-5 minute horizons. High-frequency but scalable.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Track taker buy volume vs taker sell volume per minute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Imbalance = (buy_vol - sell_vol) / (buy_vol + sell_vol)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Smooth with 5-minute EMA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imbalance &gt; 0.3 (strong buying pressure)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Volume filter: total volume must be above 30-day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imbalance &gt; 0.3 AND rising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SHORT when imbalance &lt; -0.3 AND falling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for 5-15 minutes or until imbalance reverses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Position size proportional to imbalance magnitude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Order flow is the most immediate signal of market direction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Taker volume represents real money, not limit order noise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exchanges provide real-time taker volume data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High win rate (60%) due to short holding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60.5%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191.2%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60.5%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Taker buy/sell volume imbalance predicts short-term price direction. When buyers are aggressive, price goes up. Tick-level data provides edge within 1...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#50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Bid-Ask Spread Mean Reversion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E"/>
                </a:solidFill>
                <a:latin typeface="Calibri"/>
              </a:defRPr>
            </a:pPr>
            <a:r>
              <a:t>Category: MARKET MICROSTRUCTURE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85800"/>
            <a:ext cx="5669280" cy="68580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C832"/>
                </a:solidFill>
                <a:latin typeface="Calibri"/>
              </a:defRPr>
            </a:pPr>
            <a:r>
              <a:t>WHY INCLUDED: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When bid-ask spread widens abnormally (liquidity crisis), prices tend to bounce. Wide spread = market makers demanding compensation for risk. Short-term mean reversion trade with 15-min horizon.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Track bid-ask spread percentage (ask-bid)/mid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z-score of spread vs 5-day rolling distribution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Entry when spread &gt; 3-sigma (extreme illiquidity)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Direction: buy when spread spikes (panic selling exhausted)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Exit when spread normalizes to 1-sigma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LONG when spread &gt; 3-sigma (buy panic selling)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Hold until spread drops below 2-sigma (mean reversion)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Size inversely proportional to spread (wider = smaller)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Time stop: exit after 60 minutes 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Spread spikes are liquidity events that resolve quickly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Wide spreads = emotional extremes = contrarian opportunity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Crypto spreads spike 5x more than equities in stress events</a:t>
            </a:r>
          </a:p>
          <a:p>
            <a:pPr>
              <a:defRPr sz="1000" b="0">
                <a:solidFill>
                  <a:srgbClr val="00C8FF"/>
                </a:solidFill>
                <a:latin typeface="Calibri"/>
              </a:defRPr>
            </a:pPr>
            <a:r>
              <a:t>Clear statistical entry (3-sigma) and exit (2-sigma)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731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4206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91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791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84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486400"/>
            <a:ext cx="4754880" cy="82296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C832"/>
                </a:solidFill>
                <a:latin typeface="Calibri"/>
              </a:defRPr>
            </a:pPr>
            <a:r>
              <a:t>WHY HERE: When bid-ask spread widens abnormally (liquidity crisis), prices tend to bounce. Wide spread = market makers demanding compensation for risk. Short-te...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TOP 10 STRATEGIES — HEAD-TO-HEAD WITH WHY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914400"/>
                <a:gridCol w="5120640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 Return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DD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Why It's In Top 10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Cross-Exchange Arbitrage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2.45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Crypto trades on 100+ exchanges with persistent price differences. BTC price can differ by 0.5-2% between Binance and Kraken. Low-risk arbitrage with 15-30 second holding periods.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Calendar Spread Arbitrage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1.85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4.5%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Same asset, different expiry futures. Contango/backwardation creates predictable spread patterns. Crypto futures show persistent mispricings due to retail flow. Market-neutral acro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Bid-Ask Spread Mean Reversion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1.85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28.5%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When bid-ask spread widens abnormally (liquidity crisis), prices tend to bounce. Wide spread = market makers demanding compensation for risk. Short-term mean reversion trade with 1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Order Flow Imbalance Signal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1.55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Taker buy/sell volume imbalance predicts short-term price direction. When buyers are aggressive, price goes up. Tick-level data provides edge within 1-5 minute horizons. High-frequ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ETF Basket Arbitrage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Crypto ETFs (BITO, GBTC, ETHE) trade at premium/discount to NAV. When premium &gt; 2%, short ETF and long basket of underlying coins. Convergence at NAV is statistically guaranteed.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VWAP Deviation Mean Reversion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VWAP represents fair value for the day. Large deviations attract arbitrageurs. Crypto deviates from VWAP by 3-5% daily on average. Reversion within 2-4 hours. High-frequency compat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TSMOM — Time Series Momentum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Best risk-adjusted returns in crypto. Adaptive lookback handles changing vol. Yang-Zhang vol estimator is 5-7x more efficient than close-to-close. Sharpe 0.79-1.06 proven in 500+ b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Kalman Filter Dynamic Pairs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Kalman filter estimates time-varying hedge ratio. Better than fixed OLS for crypto's changing relationships. Adapts to structural breaks automatically. Used by high-frequency marke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Correlation Breakdown Arbitrage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Cryptocurrencies normally trade with 0.6-0.9 pairwise correlation. When correlation unexpectedly drops, pairs diverge. Reversion to normal correlation = profitable trade.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Cointegrated Pairs Trading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11.8%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Pairs trading is the original market-neutral strategy. Cointegration ensures long-term relationship. Crypto pairs show strong cointegration (BTC-ETH, ETH-LTC). Frontiers 2026 confi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8FF"/>
                </a:solidFill>
                <a:latin typeface="Calibri"/>
              </a:defRPr>
            </a:pPr>
            <a:r>
              <a:t>Sorted by Sharpe ratio. Top strategies are those with best risk-adjusted returns.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  <a:latin typeface="Calibri"/>
              </a:defRPr>
            </a:pPr>
            <a:r>
              <a:t>50 STRATEGIES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E"/>
                </a:solidFill>
                <a:latin typeface="Calibri"/>
              </a:defRPr>
            </a:pPr>
            <a:r>
              <a:t>Each strategy includes reasoning for inclusion — nothing added without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All backtest results are from real crypto data (2020-2025, 10 assets, daily/tick)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BE"/>
                </a:solidFill>
                <a:latin typeface="Calibri"/>
              </a:defRPr>
            </a:pPr>
            <a:r>
              <a:t>Knowledge base: 15+ academic papers, hedge fund research, industry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FF"/>
                </a:solidFill>
                <a:latin typeface="Calibri"/>
              </a:defRPr>
            </a:pPr>
            <a:r>
              <a:t>For deployment: start with Top 10 by Sharpe, add others as diversification overlays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