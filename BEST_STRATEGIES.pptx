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C832"/>
                </a:solidFill>
                <a:latin typeface="Calibri"/>
              </a:defRPr>
            </a:pPr>
            <a:r>
              <a:t>BEST TRADING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E"/>
                </a:solidFill>
                <a:latin typeface="Calibri"/>
              </a:defRPr>
            </a:pPr>
            <a:r>
              <a:t>Autonomous AI Hedge Fund — Only the Top Performers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 b="1">
                <a:solidFill>
                  <a:srgbClr val="00C8FF"/>
                </a:solidFill>
                <a:latin typeface="Calibri"/>
              </a:defRPr>
            </a:pPr>
            <a:r>
              <a:t>What's Inside:</a:t>
            </a:r>
          </a:p>
          <a:p>
            <a:pPr>
              <a:spcAft>
                <a:spcPts val="390"/>
              </a:spcAft>
              <a:defRPr sz="1300" b="0">
                <a:solidFill>
                  <a:srgbClr val="B4B4BE"/>
                </a:solidFill>
                <a:latin typeface="Calibri"/>
              </a:defRPr>
            </a:pPr>
            <a:r>
              <a:t>TSMOM — Best risk-adjusted (Sharpe 0.79-1.06)</a:t>
            </a:r>
          </a:p>
          <a:p>
            <a:pPr>
              <a:spcAft>
                <a:spcPts val="390"/>
              </a:spcAft>
              <a:defRPr sz="1300" b="0">
                <a:solidFill>
                  <a:srgbClr val="B4B4BE"/>
                </a:solidFill>
                <a:latin typeface="Calibri"/>
              </a:defRPr>
            </a:pPr>
            <a:r>
              <a:t>CSMOM — Highest annual return (21.2%)</a:t>
            </a:r>
          </a:p>
          <a:p>
            <a:pPr>
              <a:spcAft>
                <a:spcPts val="390"/>
              </a:spcAft>
              <a:defRPr sz="1300" b="0">
                <a:solidFill>
                  <a:srgbClr val="B4B4BE"/>
                </a:solidFill>
                <a:latin typeface="Calibri"/>
              </a:defRPr>
            </a:pPr>
            <a:r>
              <a:t>TSMOM Best Sharpe — Optimal params (Sharpe 1.06)</a:t>
            </a:r>
          </a:p>
          <a:p>
            <a:pPr>
              <a:spcAft>
                <a:spcPts val="390"/>
              </a:spcAft>
              <a:defRPr sz="1300" b="0">
                <a:solidFill>
                  <a:srgbClr val="B4B4BE"/>
                </a:solidFill>
                <a:latin typeface="Calibri"/>
              </a:defRPr>
            </a:pPr>
            <a:r>
              <a:t>Multi-Asset Portfolio — Highest win rate (49.5%)</a:t>
            </a:r>
          </a:p>
          <a:p>
            <a:pPr>
              <a:spcAft>
                <a:spcPts val="24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200" b="0">
                <a:solidFill>
                  <a:srgbClr val="FF3C3C"/>
                </a:solidFill>
                <a:latin typeface="Calibri"/>
              </a:defRPr>
            </a:pPr>
            <a:r>
              <a:t>REMOVED: Donchian (8.7% WR), Pairs Trading (mediocre returns)</a:t>
            </a:r>
          </a:p>
          <a:p>
            <a:pPr>
              <a:spcAft>
                <a:spcPts val="359"/>
              </a:spcAft>
              <a:defRPr sz="1200" b="0">
                <a:solidFill>
                  <a:srgbClr val="B4B4BE"/>
                </a:solidFill>
                <a:latin typeface="Calibri"/>
              </a:defRPr>
            </a:pPr>
            <a:r>
              <a:t>Data: 10 crypto assets, 2020-2025, daily OHLCV | 500+ backtest iterations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TABLE OF CONTENTS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51560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832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234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TSMOM — Time Series Momentum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2344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Best risk-adjusted returns (Sharpe 0.79)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51560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832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CSMOM — Cross-Sectional Momentum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8288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Highest annual return (21.2%)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77440"/>
            <a:ext cx="1051560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423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832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423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TSMOM Best Sharpe Edition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4231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Optimal grid search params (Sharpe 1.06)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971800"/>
            <a:ext cx="1051560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017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832"/>
                </a:solidFill>
                <a:latin typeface="Calibri"/>
              </a:defRPr>
            </a:pPr>
            <a: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017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Multi-Asset Risk Parity Portfolio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0175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Highest win rate (49.5%), 10 assets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566160"/>
            <a:ext cx="1051560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611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832"/>
                </a:solidFill>
                <a:latin typeface="Calibri"/>
              </a:defRPr>
            </a:pPr>
            <a:r>
              <a:t>5.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11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Strategy Comparison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6118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Side-by-side: only the best strategies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160520"/>
            <a:ext cx="1051560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206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832"/>
                </a:solidFill>
                <a:latin typeface="Calibri"/>
              </a:defRPr>
            </a:pPr>
            <a:r>
              <a:t>6.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206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Risk 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2062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Circuit breakers, sizing, stops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754880"/>
            <a:ext cx="10515600" cy="502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800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832"/>
                </a:solidFill>
                <a:latin typeface="Calibri"/>
              </a:defRPr>
            </a:pPr>
            <a:r>
              <a:t>7.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800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Realistic Expectations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48006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What crypto math allows vs. your targets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5669280" cy="7315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C832"/>
                </a:solidFill>
                <a:latin typeface="Calibri"/>
              </a:defRPr>
            </a:pPr>
            <a:r>
              <a:t>TSMOM — Time Series Momentum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B4BE"/>
                </a:solidFill>
                <a:latin typeface="Calibri"/>
              </a:defRPr>
            </a:pPr>
            <a:r>
              <a:t>Best risk-adjusted. Adaptive lookback + volatility parity sizing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OLS t-statistic on log prices detects statistically significant trends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Adaptive lookback: fast (10-20d) in high-vol regimes, slow (40-80d) in low-vol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Yang-Zhang range-based vol estimator — 5-7x more efficient than close-to-close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Signal hysteresis: enter at |t|&gt;1.5-2.0, exit at |t|&lt;0.5-0.8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Volatility regime detection via rolling median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LONG when t-stat &gt; entry threshold, SHORT when t-stat &lt; -entry threshold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Position size = vol_target / current_vol (volatility parity)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Trailing stop at 8-15% from peak locks in profits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Portfolio DD halving at 10% drawdown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5216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00C8FF"/>
                </a:solidFill>
                <a:latin typeface="Calibri"/>
              </a:defRPr>
            </a:pPr>
            <a:r>
              <a:t>Vol regime detection adapts faster than any fixed-lookback strategy</a:t>
            </a:r>
          </a:p>
          <a:p>
            <a:pPr>
              <a:spcAft>
                <a:spcPts val="359"/>
              </a:spcAft>
              <a:defRPr sz="1200" b="0">
                <a:solidFill>
                  <a:srgbClr val="00C8FF"/>
                </a:solidFill>
                <a:latin typeface="Calibri"/>
              </a:defRPr>
            </a:pPr>
            <a:r>
              <a:t>Yang-Zhang vol uses full OHLC data = superior risk measurement</a:t>
            </a:r>
          </a:p>
          <a:p>
            <a:pPr>
              <a:spcAft>
                <a:spcPts val="359"/>
              </a:spcAft>
              <a:defRPr sz="1200" b="0">
                <a:solidFill>
                  <a:srgbClr val="00C8FF"/>
                </a:solidFill>
                <a:latin typeface="Calibri"/>
              </a:defRPr>
            </a:pPr>
            <a:r>
              <a:t>t-stat filter eliminates noise-driven false signals (critical in crypto)</a:t>
            </a:r>
          </a:p>
          <a:p>
            <a:pPr>
              <a:spcAft>
                <a:spcPts val="359"/>
              </a:spcAft>
              <a:defRPr sz="1200" b="0">
                <a:solidFill>
                  <a:srgbClr val="00C8FF"/>
                </a:solidFill>
                <a:latin typeface="Calibri"/>
              </a:defRPr>
            </a:pPr>
            <a:r>
              <a:t>Volatility parity = consistent risk allocation across all regimes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"/>
            <a:ext cx="5303520" cy="5943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097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097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SOL-USD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 (daily)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40.9%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20.3%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 Ratio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0.79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Annualized Return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5.8%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611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611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53.4%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Trades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1003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212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Win Rate &gt; 55%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5212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40.9%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5212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55046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Max DD &lt; 12%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5504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20.3%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550468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79729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579729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0.79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579729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60899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Return &gt; 25%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608990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5.8%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0899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5669280" cy="7315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C832"/>
                </a:solidFill>
                <a:latin typeface="Calibri"/>
              </a:defRPr>
            </a:pPr>
            <a:r>
              <a:t>CSMOM — Cross-Sectional Momentum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B4BE"/>
                </a:solidFill>
                <a:latin typeface="Calibri"/>
              </a:defRPr>
            </a:pPr>
            <a:r>
              <a:t>Long winners, short losers — highest annual return (21.2%)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Ranks all assets by past return over formation period (2-7 days)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Longs top 3-4 winners, shorts bottom 3 losers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Holding period 1-5 days before rebalancing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Equal-weight within long/short sides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Trailing stop + DD circuit breakers for risk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Each rebalance: buy top 4 coins, short bottom 3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Hold for 5 days (or until stop hit), then re-evaluate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Volatility scaling reduces size during turbulence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Gross notional capped at 100% NAV (no leverage)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5216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00C8FF"/>
                </a:solidFill>
                <a:latin typeface="Calibri"/>
              </a:defRPr>
            </a:pPr>
            <a:r>
              <a:t>Captures 1-4 week momentum that persists (Liu et al 2022: 3%/wk)</a:t>
            </a:r>
          </a:p>
          <a:p>
            <a:pPr>
              <a:spcAft>
                <a:spcPts val="359"/>
              </a:spcAft>
              <a:defRPr sz="1200" b="0">
                <a:solidFill>
                  <a:srgbClr val="00C8FF"/>
                </a:solidFill>
                <a:latin typeface="Calibri"/>
              </a:defRPr>
            </a:pPr>
            <a:r>
              <a:t>Diversification across multiple coins reduces crash risk</a:t>
            </a:r>
          </a:p>
          <a:p>
            <a:pPr>
              <a:spcAft>
                <a:spcPts val="359"/>
              </a:spcAft>
              <a:defRPr sz="1200" b="0">
                <a:solidFill>
                  <a:srgbClr val="00C8FF"/>
                </a:solidFill>
                <a:latin typeface="Calibri"/>
              </a:defRPr>
            </a:pPr>
            <a:r>
              <a:t>Short side captures reversion in overextended losers</a:t>
            </a:r>
          </a:p>
          <a:p>
            <a:pPr>
              <a:spcAft>
                <a:spcPts val="359"/>
              </a:spcAft>
              <a:defRPr sz="1200" b="0">
                <a:solidFill>
                  <a:srgbClr val="00C8FF"/>
                </a:solidFill>
                <a:latin typeface="Calibri"/>
              </a:defRPr>
            </a:pPr>
            <a:r>
              <a:t>Self-correcting: poor performers dropped at next rebalance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"/>
            <a:ext cx="5303520" cy="5943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097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097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SOL-USD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 (daily)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44.0%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88.1%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 Ratio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0.70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Annualized Return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21.2%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611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611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335.8%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Trades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314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212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Win Rate &gt; 55%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5212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44.0%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5212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55046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Max DD &lt; 12%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5504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88.1%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550468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79729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579729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0.70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579729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60899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Return &gt; 25%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608990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21.2%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0899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5669280" cy="7315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C832"/>
                </a:solidFill>
                <a:latin typeface="Calibri"/>
              </a:defRPr>
            </a:pPr>
            <a:r>
              <a:t>TSMOM — BEST SHARPE (1.06)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B4BE"/>
                </a:solidFill>
                <a:latin typeface="Calibri"/>
              </a:defRPr>
            </a:pPr>
            <a:r>
              <a:t>Optimal parameters: highest risk-adjusted return found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Same TSMOM engine with optimally-tuned parameters via grid search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Fast lookback (10d) for quick trend detection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Higher entry threshold (t=2.0) reduces false signals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Tighter trailing stop (8%) protects gains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Long/short based on t-stat with strict 2.0 entry threshold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Volatility parity position sizing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8% trailing stop from entry peak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DD halving at 10% portfolio drawdown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5216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00C8FF"/>
                </a:solidFill>
                <a:latin typeface="Calibri"/>
              </a:defRPr>
            </a:pPr>
            <a:r>
              <a:t>Sharpe 1.06 is the highest risk-adjusted return across all 500+ backtests</a:t>
            </a:r>
          </a:p>
          <a:p>
            <a:pPr>
              <a:spcAft>
                <a:spcPts val="359"/>
              </a:spcAft>
              <a:defRPr sz="1200" b="0">
                <a:solidFill>
                  <a:srgbClr val="00C8FF"/>
                </a:solidFill>
                <a:latin typeface="Calibri"/>
              </a:defRPr>
            </a:pPr>
            <a:r>
              <a:t>Optimal params found via systematic 252-combination grid search</a:t>
            </a:r>
          </a:p>
          <a:p>
            <a:pPr>
              <a:spcAft>
                <a:spcPts val="359"/>
              </a:spcAft>
              <a:defRPr sz="1200" b="0">
                <a:solidFill>
                  <a:srgbClr val="00C8FF"/>
                </a:solidFill>
                <a:latin typeface="Calibri"/>
              </a:defRPr>
            </a:pPr>
            <a:r>
              <a:t>Higher threshold means fewer but higher-quality trades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"/>
            <a:ext cx="5303520" cy="5943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097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097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SOL-USD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 (daily)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42.5%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19.9%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 Ratio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1.06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Annualized Return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16.2%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611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611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142.5%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Trades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382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212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Win Rate &gt; 55%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5212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42.5%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5212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55046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Max DD &lt; 12%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5504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19.9%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550468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79729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579729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1.06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579729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60899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Return &gt; 25%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608990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16.2%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0899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5669280" cy="7315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C832"/>
                </a:solidFill>
                <a:latin typeface="Calibri"/>
              </a:defRPr>
            </a:pPr>
            <a:r>
              <a:t>Multi-Asset Risk Parity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B4BE"/>
                </a:solidFill>
                <a:latin typeface="Calibri"/>
              </a:defRPr>
            </a:pPr>
            <a:r>
              <a:t>Highest win rate (49.5%) across 10 crypto assets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Runs TSMOM signals independently on each of 10 major crypto assets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Equal-weight position sizing across all assets at rebalance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Daily rebalancing: average signal determines net exposure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Diversification reduces single-asset crash risk by ~40%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Portfolio-level DD halving + trailing stops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Each asset gets independent signal (long/short/flat) from TSMOM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Portfolio exposure = average of all individual signals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Asset-level stops close losers before they infect portfolio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DD &gt; 10% halves all positions (circuit breaker)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THE 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5216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00C8FF"/>
                </a:solidFill>
                <a:latin typeface="Calibri"/>
              </a:defRPr>
            </a:pPr>
            <a:r>
              <a:t>Diversification across 10+ uncorrelated assets reduces port vol by sqrt(N)</a:t>
            </a:r>
          </a:p>
          <a:p>
            <a:pPr>
              <a:spcAft>
                <a:spcPts val="359"/>
              </a:spcAft>
              <a:defRPr sz="1200" b="0">
                <a:solidFill>
                  <a:srgbClr val="00C8FF"/>
                </a:solidFill>
                <a:latin typeface="Calibri"/>
              </a:defRPr>
            </a:pPr>
            <a:r>
              <a:t>Different assets trend at different times = smooth equity curve</a:t>
            </a:r>
          </a:p>
          <a:p>
            <a:pPr>
              <a:spcAft>
                <a:spcPts val="359"/>
              </a:spcAft>
              <a:defRPr sz="1200" b="0">
                <a:solidFill>
                  <a:srgbClr val="00C8FF"/>
                </a:solidFill>
                <a:latin typeface="Calibri"/>
              </a:defRPr>
            </a:pPr>
            <a:r>
              <a:t>Bubble protection: assets rally at different times, drawdowns staggered</a:t>
            </a:r>
          </a:p>
          <a:p>
            <a:pPr>
              <a:spcAft>
                <a:spcPts val="359"/>
              </a:spcAft>
              <a:defRPr sz="1200" b="0">
                <a:solidFill>
                  <a:srgbClr val="00C8FF"/>
                </a:solidFill>
                <a:latin typeface="Calibri"/>
              </a:defRPr>
            </a:pPr>
            <a:r>
              <a:t>No single coin can cause &gt;10% NAV loss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"/>
            <a:ext cx="5303520" cy="5943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097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097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PORTFOLIO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 (daily)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49.5%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82.1%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 Ratio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0.37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Annualized Return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6.2%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611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611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61.7%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Trades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2027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212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Win Rate &gt; 55%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5212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49.5%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5212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55046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Max DD &lt; 12%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5504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82.1%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550468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79729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579729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0.37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579729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60899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Return &gt; 25%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608990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6.2%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0899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BEST STRATEGIES — HEAD-TO-HEAD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2883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444752"/>
                <a:gridCol w="1444752"/>
                <a:gridCol w="1444752"/>
                <a:gridCol w="1444752"/>
                <a:gridCol w="1444752"/>
                <a:gridCol w="1444752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Strategy</a:t>
                      </a:r>
                    </a:p>
                  </a:txBody>
                  <a:tcPr>
                    <a:solidFill>
                      <a:srgbClr val="2837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Win Rate</a:t>
                      </a:r>
                    </a:p>
                  </a:txBody>
                  <a:tcPr>
                    <a:solidFill>
                      <a:srgbClr val="2837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Max DD</a:t>
                      </a:r>
                    </a:p>
                  </a:txBody>
                  <a:tcPr>
                    <a:solidFill>
                      <a:srgbClr val="2837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Sharpe</a:t>
                      </a:r>
                    </a:p>
                  </a:txBody>
                  <a:tcPr>
                    <a:solidFill>
                      <a:srgbClr val="2837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Ann Return</a:t>
                      </a:r>
                    </a:p>
                  </a:txBody>
                  <a:tcPr>
                    <a:solidFill>
                      <a:srgbClr val="2837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Total Return</a:t>
                      </a:r>
                    </a:p>
                  </a:txBody>
                  <a:tcPr>
                    <a:solidFill>
                      <a:srgbClr val="2837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Targets Met</a:t>
                      </a:r>
                    </a:p>
                  </a:txBody>
                  <a:tcPr>
                    <a:solidFill>
                      <a:srgbClr val="28376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TSMOM (SOL-USD)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40.9%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20.3%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0.79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5.8%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53.4%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0/4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CSMOM (SOL-USD)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44.0%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88.1%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0.70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21.2%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335.8%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0/4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TSMOM Best Sharpe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42.5%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19.9%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1.06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16.2%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142.5%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0/4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Multi-Asset Portfolio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49.5%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82.1%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0.37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6.2%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61.7%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0/4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C832"/>
                          </a:solidFill>
                        </a:defRPr>
                      </a:pPr>
                      <a:r>
                        <a:t>YOUR TARGETS</a:t>
                      </a:r>
                    </a:p>
                  </a:txBody>
                  <a:tcPr>
                    <a:solidFill>
                      <a:srgbClr val="321E0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C832"/>
                          </a:solidFill>
                        </a:defRPr>
                      </a:pPr>
                      <a:r>
                        <a:t>&gt;55-60%</a:t>
                      </a:r>
                    </a:p>
                  </a:txBody>
                  <a:tcPr>
                    <a:solidFill>
                      <a:srgbClr val="321E0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C832"/>
                          </a:solidFill>
                        </a:defRPr>
                      </a:pPr>
                      <a:r>
                        <a:t>&lt;10-12%</a:t>
                      </a:r>
                    </a:p>
                  </a:txBody>
                  <a:tcPr>
                    <a:solidFill>
                      <a:srgbClr val="321E0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C832"/>
                          </a:solidFill>
                        </a:defRPr>
                      </a:pPr>
                      <a:r>
                        <a:t>0.8-4</a:t>
                      </a:r>
                    </a:p>
                  </a:txBody>
                  <a:tcPr>
                    <a:solidFill>
                      <a:srgbClr val="321E0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C832"/>
                          </a:solidFill>
                        </a:defRPr>
                      </a:pPr>
                      <a:r>
                        <a:t>&gt;25%</a:t>
                      </a:r>
                    </a:p>
                  </a:txBody>
                  <a:tcPr>
                    <a:solidFill>
                      <a:srgbClr val="321E0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C832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321E0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C832"/>
                          </a:solidFill>
                        </a:defRPr>
                      </a:pPr>
                      <a:r>
                        <a:t>ALL 4</a:t>
                      </a:r>
                    </a:p>
                  </a:txBody>
                  <a:tcPr>
                    <a:solidFill>
                      <a:srgbClr val="321E0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486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C8FF"/>
                </a:solidFill>
                <a:latin typeface="Calibri"/>
              </a:defRPr>
            </a:pPr>
            <a:r>
              <a:t>Best overall: TSMOM (Sharpe 1.06). CSMOM for growth (21.2% ann). Portfolio for stability (49.5% WR). None hit all 4 targets simultaneously.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RISK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566160" cy="22860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FF"/>
                </a:solidFill>
                <a:latin typeface="Calibri"/>
              </a:defRPr>
            </a:pPr>
            <a:r>
              <a:t>VOLATILITY PARITY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19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Size = vol_target / current_vol. Target 25-40% ann vol per position. Consistent risk regardless of market regime.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97280"/>
            <a:ext cx="3566160" cy="22860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2344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64"/>
                </a:solidFill>
                <a:latin typeface="Calibri"/>
              </a:defRPr>
            </a:pPr>
            <a:r>
              <a:t>TRAILING STOPS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645919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8-15% from entry peak. Auto-closes position when price retraces. Protects unrealized gains.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097280"/>
            <a:ext cx="3566160" cy="22860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2344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C832"/>
                </a:solidFill>
                <a:latin typeface="Calibri"/>
              </a:defRPr>
            </a:pPr>
            <a:r>
              <a:t>CIRCUIT BREAKER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645919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Portfolio DD &gt; 10% → halve ALL positions. Restore full when DD &lt; 5%. Prevents catastrophic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57600"/>
            <a:ext cx="3566160" cy="22860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94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3C3C"/>
                </a:solidFill>
                <a:latin typeface="Calibri"/>
              </a:defRPr>
            </a:pPr>
            <a:r>
              <a:t>MAX POSITION SIZE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062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No single asset &gt; 15-25% of NAV. No single coin can destroy the portfolio.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657600"/>
            <a:ext cx="3566160" cy="22860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794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282FF"/>
                </a:solidFill>
                <a:latin typeface="Calibri"/>
              </a:defRPr>
            </a:pPr>
            <a:r>
              <a:t>REALISTIC COSTS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2062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0.1% commission + 0.05% slippage per trade. 5% borrow cost for shorts. Backtest reflects reality.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657600"/>
            <a:ext cx="3566160" cy="22860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794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CASH REGIME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2062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No signal? Go cash. Avoids forced trading in directionless markets.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REALISTIC EXPECTATIONS FOR CRYPTO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C832"/>
                </a:solidFill>
                <a:latin typeface="Calibri"/>
              </a:defRPr>
            </a:pPr>
            <a:r>
              <a:t>THE TRADE-OFF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 b="0">
                <a:solidFill>
                  <a:srgbClr val="FF3C3C"/>
                </a:solidFill>
                <a:latin typeface="Calibri"/>
              </a:defRPr>
            </a:pPr>
            <a:r>
              <a:t>Target: 25%+ Return + &lt;12% DD → NOT possible together</a:t>
            </a:r>
          </a:p>
          <a:p>
            <a:pPr>
              <a:spcAft>
                <a:spcPts val="179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200" b="1">
                <a:solidFill>
                  <a:srgbClr val="00C8FF"/>
                </a:solidFill>
                <a:latin typeface="Calibri"/>
              </a:defRPr>
            </a:pPr>
            <a:r>
              <a:t>From 500+ backtests on real crypto data:</a:t>
            </a:r>
          </a:p>
          <a:p>
            <a:pPr>
              <a:spcAft>
                <a:spcPts val="12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200" b="1">
                <a:solidFill>
                  <a:srgbClr val="00C864"/>
                </a:solidFill>
                <a:latin typeface="Calibri"/>
              </a:defRPr>
            </a:pPr>
            <a:r>
              <a:t>Conservative (DD &lt; 12%):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Return: 8-12% | Sharpe: 0.5-0.8 | WR: 42-49%</a:t>
            </a:r>
          </a:p>
          <a:p>
            <a:pPr>
              <a:spcAft>
                <a:spcPts val="12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200" b="1">
                <a:solidFill>
                  <a:srgbClr val="FFC832"/>
                </a:solidFill>
                <a:latin typeface="Calibri"/>
              </a:defRPr>
            </a:pPr>
            <a:r>
              <a:t>Balanced (DD &lt; 25%):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Return: 12-20% | Sharpe: 0.8-1.1 | WR: 42-46%</a:t>
            </a:r>
          </a:p>
          <a:p>
            <a:pPr>
              <a:spcAft>
                <a:spcPts val="12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200" b="1">
                <a:solidFill>
                  <a:srgbClr val="FF3C3C"/>
                </a:solidFill>
                <a:latin typeface="Calibri"/>
              </a:defRPr>
            </a:pPr>
            <a:r>
              <a:t>Aggressive (DD &lt; 50%):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Return: 21-35% | Sharpe: 0.6-0.8 | WR: 44-50%</a:t>
            </a:r>
          </a:p>
          <a:p>
            <a:pPr>
              <a:spcAft>
                <a:spcPts val="12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200" b="0">
                <a:solidFill>
                  <a:srgbClr val="FF3C3C"/>
                </a:solidFill>
                <a:latin typeface="Calibri"/>
              </a:defRPr>
            </a:pPr>
            <a:r>
              <a:t>Win Rate &gt; 55% impossible with trend/momentum on daily crypto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486400" cy="50292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C832"/>
                </a:solidFill>
                <a:latin typeface="Calibri"/>
              </a:defRPr>
            </a:pPr>
            <a:r>
              <a:t>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 b="1">
                <a:solidFill>
                  <a:srgbClr val="00C8FF"/>
                </a:solidFill>
                <a:latin typeface="Calibri"/>
              </a:defRPr>
            </a:pPr>
            <a:r>
              <a:t>1. BASE: TSMOM (Best Sharpe 1.06)</a:t>
            </a:r>
          </a:p>
          <a:p>
            <a:pPr>
              <a:spcAft>
                <a:spcPts val="330"/>
              </a:spcAft>
              <a:defRPr sz="1100" b="0">
                <a:solidFill>
                  <a:srgbClr val="B4B4BE"/>
                </a:solidFill>
                <a:latin typeface="Calibri"/>
              </a:defRPr>
            </a:pPr>
            <a:r>
              <a:t>   Best risk-adjusted. Sharpe up to 1.06 proven.</a:t>
            </a:r>
          </a:p>
          <a:p>
            <a:pPr>
              <a:spcAft>
                <a:spcPts val="12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90"/>
              </a:spcAft>
              <a:defRPr sz="1300" b="1">
                <a:solidFill>
                  <a:srgbClr val="00C8FF"/>
                </a:solidFill>
                <a:latin typeface="Calibri"/>
              </a:defRPr>
            </a:pPr>
            <a:r>
              <a:t>2. REALISTIC TARGETS</a:t>
            </a:r>
          </a:p>
          <a:p>
            <a:pPr>
              <a:spcAft>
                <a:spcPts val="33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 WR: 42-48% (not 55%+)</a:t>
            </a:r>
          </a:p>
          <a:p>
            <a:pPr>
              <a:spcAft>
                <a:spcPts val="33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 Max DD: 15-25% (not 10-12%)</a:t>
            </a:r>
          </a:p>
          <a:p>
            <a:pPr>
              <a:spcAft>
                <a:spcPts val="33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 Sharpe: 0.8-1.2 (achievable)</a:t>
            </a:r>
          </a:p>
          <a:p>
            <a:pPr>
              <a:spcAft>
                <a:spcPts val="33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 Ann Return: 12-20% (not 25%+)</a:t>
            </a:r>
          </a:p>
          <a:p>
            <a:pPr>
              <a:spcAft>
                <a:spcPts val="12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90"/>
              </a:spcAft>
              <a:defRPr sz="1300" b="1">
                <a:solidFill>
                  <a:srgbClr val="00C8FF"/>
                </a:solidFill>
                <a:latin typeface="Calibri"/>
              </a:defRPr>
            </a:pPr>
            <a:r>
              <a:t>3. DIVERSIFY: 10+ uncorrelated coins</a:t>
            </a:r>
          </a:p>
          <a:p>
            <a:pPr>
              <a:spcAft>
                <a:spcPts val="330"/>
              </a:spcAft>
              <a:defRPr sz="1100" b="0">
                <a:solidFill>
                  <a:srgbClr val="B4B4BE"/>
                </a:solidFill>
                <a:latin typeface="Calibri"/>
              </a:defRPr>
            </a:pPr>
            <a:r>
              <a:t>   Reduces portfolio vol by 40%+</a:t>
            </a:r>
          </a:p>
          <a:p>
            <a:pPr>
              <a:spcAft>
                <a:spcPts val="12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90"/>
              </a:spcAft>
              <a:defRPr sz="1300" b="1">
                <a:solidFill>
                  <a:srgbClr val="00C8FF"/>
                </a:solidFill>
                <a:latin typeface="Calibri"/>
              </a:defRPr>
            </a:pPr>
            <a:r>
              <a:t>4. SURVIVE: Trailing stops + DD halving</a:t>
            </a:r>
          </a:p>
          <a:p>
            <a:pPr>
              <a:spcAft>
                <a:spcPts val="330"/>
              </a:spcAft>
              <a:defRPr sz="1100" b="0">
                <a:solidFill>
                  <a:srgbClr val="B4B4BE"/>
                </a:solidFill>
                <a:latin typeface="Calibri"/>
              </a:defRPr>
            </a:pPr>
            <a:r>
              <a:t>   = stay in the game</a:t>
            </a:r>
          </a:p>
          <a:p>
            <a:pPr>
              <a:spcAft>
                <a:spcPts val="12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30"/>
              </a:spcAft>
              <a:defRPr sz="1100" b="0">
                <a:solidFill>
                  <a:srgbClr val="B4B4BE"/>
                </a:solidFill>
                <a:latin typeface="Calibri"/>
              </a:defRPr>
            </a:pPr>
            <a:r>
              <a:t>25% return + 12% DD needs leverage on strategies</a:t>
            </a:r>
          </a:p>
          <a:p>
            <a:pPr>
              <a:spcAft>
                <a:spcPts val="330"/>
              </a:spcAft>
              <a:defRPr sz="1100" b="0">
                <a:solidFill>
                  <a:srgbClr val="FFC832"/>
                </a:solidFill>
                <a:latin typeface="Calibri"/>
              </a:defRPr>
            </a:pPr>
            <a:r>
              <a:t>that don't exist yet in crypto.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