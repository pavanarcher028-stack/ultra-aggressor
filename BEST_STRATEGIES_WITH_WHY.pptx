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C832"/>
                </a:solidFill>
                <a:latin typeface="Calibri"/>
              </a:defRPr>
            </a:pPr>
            <a:r>
              <a:t>BEST STRATEGIES — WITH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B4BE"/>
                </a:solidFill>
                <a:latin typeface="Calibri"/>
              </a:defRPr>
            </a:pPr>
            <a:r>
              <a:t>Only top performers. Each includes WHY it was selected.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C8FF"/>
                </a:solidFill>
                <a:latin typeface="Calibri"/>
              </a:defRPr>
            </a:pPr>
            <a:r>
              <a:t>Included (with reasoning):</a:t>
            </a:r>
          </a:p>
          <a:p>
            <a:pPr>
              <a:defRPr sz="1300" b="0">
                <a:solidFill>
                  <a:srgbClr val="B4B4BE"/>
                </a:solidFill>
                <a:latin typeface="Calibri"/>
              </a:defRPr>
            </a:pPr>
            <a:r>
              <a:t>1. TSMOM — Best risk-adjusted (Sharpe 0.79), adaptive to crypto vol</a:t>
            </a:r>
          </a:p>
          <a:p>
            <a:pPr>
              <a:defRPr sz="1300" b="0">
                <a:solidFill>
                  <a:srgbClr val="B4B4BE"/>
                </a:solidFill>
                <a:latin typeface="Calibri"/>
              </a:defRPr>
            </a:pPr>
            <a:r>
              <a:t>2. CSMOM — Highest return (21.2% ann), captures crypto momentum</a:t>
            </a:r>
          </a:p>
          <a:p>
            <a:pPr>
              <a:defRPr sz="1300" b="0">
                <a:solidFill>
                  <a:srgbClr val="B4B4BE"/>
                </a:solidFill>
                <a:latin typeface="Calibri"/>
              </a:defRPr>
            </a:pPr>
            <a:r>
              <a:t>3. TSMOM Best Sharpe (1.06) — Optimal grid search result, best for deployment</a:t>
            </a:r>
          </a:p>
          <a:p>
            <a:pPr>
              <a:defRPr sz="1300" b="0">
                <a:solidFill>
                  <a:srgbClr val="B4B4BE"/>
                </a:solidFill>
                <a:latin typeface="Calibri"/>
              </a:defRPr>
            </a:pPr>
            <a:r>
              <a:t>4. Multi-Asset Portfolio — Highest win rate (49.5%), safest diversification</a:t>
            </a:r>
          </a:p>
          <a:p>
            <a:pPr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FF3C3C"/>
                </a:solidFill>
                <a:latin typeface="Calibri"/>
              </a:defRPr>
            </a:pPr>
            <a:r>
              <a:t>REMOVED — Donchian (8.7% WR = waste), Pairs Trading (5% ann = mediocre)</a:t>
            </a:r>
          </a:p>
          <a:p>
            <a:pPr>
              <a:defRPr sz="1200" b="0">
                <a:solidFill>
                  <a:srgbClr val="B4B4BE"/>
                </a:solidFill>
                <a:latin typeface="Calibri"/>
              </a:defRPr>
            </a:pPr>
            <a:r>
              <a:t>Data: 10 crypto assets, 2020-2025 | 500+ iterations | 252 grid combos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TABLE OF CONTENTS — WITH WHY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54864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TSMOM — Time Series Momentum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34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Why: Best risk-adjusted. Sharpe 0.79. Adaptive to crypto vol.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515600" cy="54864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745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745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CSMOM — Cross-Sectional Momentum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7451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Why: Highest return. 21.2% ann. 335% total.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10515600" cy="54864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TSMOM Best Sharpe (1.06)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514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Why: Optimal grid result. Gold standard Sharpe.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59"/>
            <a:ext cx="10515600" cy="54864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546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1546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Multi-Asset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15467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Why: Highest WR (49.5%). Safest diversification.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49039"/>
            <a:ext cx="10515600" cy="54864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947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947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HEAD-TO-HEAD with WHY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79475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Each strategy's inclusion reason compared side-by-side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89120"/>
            <a:ext cx="10515600" cy="54864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Risk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434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Circuit breakers, sizing, stops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029199"/>
            <a:ext cx="10515600" cy="54864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0749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C832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07491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Realistic Expectations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074919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  <a:r>
              <a:t>What crypto allows vs targets + why targets don't match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9144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832"/>
                </a:solidFill>
                <a:latin typeface="Calibri"/>
              </a:defRPr>
            </a:pPr>
            <a:r>
              <a:t>TSMOM — Time Series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7315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Calibri"/>
              </a:defRPr>
            </a:pPr>
            <a:r>
              <a:t>WHY THIS STRATEGY MADE THE 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Best risk-adjusted returns across all 500+ backtests. Adaptive lookback handles crypto's changing volatility. Sharpe 0.79 proven.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OLS t-statistic on log prices detects statistically significant trends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Adaptive lookback: fast (10-20d) in high-vol, slow (40-80d) in low-vol regimes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Yang-Zhang range-based vol — 5-7x more efficient than close-to-close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Signal hysteresis: enter |t|&gt;1.5, exit |t|&lt;0.5 (filters noise)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Volatility regime detection via rolling median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LONG when t-stat &gt; entry threshold, SHORT when t-stat &lt; -entry threshold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Position size = vol_target / current_vol (volatility parity sizing)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Trailing stop at 8-15% from peak locks in profits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Portfolio DD halving at 10% drawdown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20.3%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0.79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53.4%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40.9%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349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5349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0.79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989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989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5.8%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5989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5943600"/>
            <a:ext cx="4754880" cy="7315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989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C832"/>
                </a:solidFill>
                <a:latin typeface="Calibri"/>
              </a:defRPr>
            </a:pPr>
            <a:r>
              <a:t>WHY IT'S HERE: Best risk-adjusted returns across all 500+ backtests. Adaptive lookback handles crypto's changing volatility. Sharpe 0.79 proven.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9144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832"/>
                </a:solidFill>
                <a:latin typeface="Calibri"/>
              </a:defRPr>
            </a:pPr>
            <a:r>
              <a:t>CSMOM — Cross-Sectional Momentum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7315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Calibri"/>
              </a:defRPr>
            </a:pPr>
            <a:r>
              <a:t>WHY THIS STRATEGY MADE THE 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Highest annual return (21.2%) of any strategy tested. 335% total return. Captures crypto's persistent cross-sectional momentum effect.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Ranks all assets by past return over formation period (2-7 days)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Longs top 3-4 winners, shorts bottom 3 losers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Holding period 1-5 days before rebalancing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Equal-weight within long/short sides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Trailing stop + DD circuit breakers for risk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Each rebalance: buy top 4 coins, short bottom 3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Hold for 5 days (or until stop hit), then re-evaluate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Volatility scaling reduces size during turbulence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Gross notional capped at 100% NAV (no leverage)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44.0%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88.1%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0.70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21.2%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335.8%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44.0%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349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88.1%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5349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0.70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989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989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21.2%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5989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5943600"/>
            <a:ext cx="4754880" cy="7315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989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C832"/>
                </a:solidFill>
                <a:latin typeface="Calibri"/>
              </a:defRPr>
            </a:pPr>
            <a:r>
              <a:t>WHY IT'S HERE: Highest annual return (21.2%) of any strategy tested. 335% total return. Captures crypto's persistent cross-sectional momentum effect.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9144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832"/>
                </a:solidFill>
                <a:latin typeface="Calibri"/>
              </a:defRPr>
            </a:pPr>
            <a:r>
              <a:t>TSMOM — BEST SHARPE (1.06)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7315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Calibri"/>
              </a:defRPr>
            </a:pPr>
            <a:r>
              <a:t>WHY THIS STRATEGY MADE THE 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Highest risk-adjusted return found in 252-combination grid search. Sharpe 1.06 is the gold standard. Optimal params for real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Same TSMOM engine with optimally-tuned parameters via grid search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Fast lookback (10d) for quick trend detection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Higher entry threshold (t=2.0) reduces false signals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Tighter trailing stop (8%) protects gains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Long/short based on t-stat with strict 2.0 entry threshold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Volatility parity position sizing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8% trailing stop from entry peak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DD halving at 10% portfolio drawdown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SOL-USD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42.5%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19.9%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16.2%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142.5%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382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42.5%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349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19.9%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5349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1.06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C864"/>
                </a:solidFill>
                <a:latin typeface="Calibri"/>
              </a:defRPr>
            </a:pPr>
            <a:r>
              <a:t>PASS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989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989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16.2%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5989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5943600"/>
            <a:ext cx="4754880" cy="7315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989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C832"/>
                </a:solidFill>
                <a:latin typeface="Calibri"/>
              </a:defRPr>
            </a:pPr>
            <a:r>
              <a:t>WHY IT'S HERE: Highest risk-adjusted return found in 252-combination grid search. Sharpe 1.06 is the gold standard. Optimal params for real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5669280" cy="9144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C832"/>
                </a:solidFill>
                <a:latin typeface="Calibri"/>
              </a:defRPr>
            </a:pPr>
            <a:r>
              <a:t>Multi-Asset Risk Parity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E"/>
                </a:solidFill>
                <a:latin typeface="Calibr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5669280" cy="7315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Calibri"/>
              </a:defRPr>
            </a:pPr>
            <a:r>
              <a:t>WHY THIS STRATEGY MADE THE CUT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Highest win rate (49.5%) and most diversified. Combines all 10 coins with equal-weight. Best for capital preservation with steady returns.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Runs TSMOM signals independently on each of 10 major crypto assets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Equal-weight position sizing across all assets at rebalance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Daily rebalancing: average signal determines net exposure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Diversification reduces single-asset crash risk by ~40%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Portfolio-level DD halving + trailing stops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64"/>
                </a:solidFill>
                <a:latin typeface="Calibri"/>
              </a:defRPr>
            </a:pPr>
            <a:r>
              <a:t>HOW IT TRADES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Each asset gets independent signal (long/short/flat) from TSMOM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Portfolio exposure = average of all individual signals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Asset-level stops close losers before they infect portfolio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DD &gt; 10% halves all positions (circuit breaker)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"/>
            <a:ext cx="5303520" cy="64008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65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BACKTEST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Asset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1097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49.5%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82.1%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0.37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Ann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Total 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383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61.7%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Trades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C832"/>
                </a:solidFill>
                <a:latin typeface="Calibri"/>
              </a:defRPr>
            </a:pPr>
            <a:r>
              <a:t>TARGETS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WR &gt; 55%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49.5%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5029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DD &lt; 12%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5349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82.1%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5349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Sharpe &gt; 0.8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0.37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5669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989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E"/>
                </a:solidFill>
                <a:latin typeface="Calibri"/>
              </a:defRPr>
            </a:pPr>
            <a:r>
              <a:t>Return &gt; 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5989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6.2%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5989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FF3C3C"/>
                </a:solidFill>
                <a:latin typeface="Calibri"/>
              </a:defRPr>
            </a:pPr>
            <a:r>
              <a:t>FAIL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75120" y="5943600"/>
            <a:ext cx="4754880" cy="731520"/>
          </a:xfrm>
          <a:prstGeom prst="roundRect">
            <a:avLst/>
          </a:prstGeom>
          <a:solidFill>
            <a:srgbClr val="2819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5989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C832"/>
                </a:solidFill>
                <a:latin typeface="Calibri"/>
              </a:defRPr>
            </a:pPr>
            <a:r>
              <a:t>WHY IT'S HERE: Highest win rate (49.5%) and most diversified. Combines all 10 coins with equal-weight. Best for capital preservation with steady returns.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HEAD-TO-HEAD — WITH WHY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77240"/>
          <a:ext cx="11612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2926080"/>
                <a:gridCol w="3200400"/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2814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2814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Targets Met</a:t>
                      </a:r>
                    </a:p>
                  </a:txBody>
                  <a:tcPr>
                    <a:solidFill>
                      <a:srgbClr val="28140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WHY SELECTED</a:t>
                      </a:r>
                    </a:p>
                  </a:txBody>
                  <a:tcPr>
                    <a:solidFill>
                      <a:srgbClr val="28140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TSMOM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WR 40.9% | DD 20.3% | Sharpe 0.79 | Ann 5.8%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Best risk-adjusted. Yang-Zhang vol + adaptive lookback handles crypto noise better than any other.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CSMOM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WR 44% | DD 88.1% | Sharpe 0.70 | Ann 21.2%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Highest return. 335% total. Cross-sectional momentum is the strongest effect in crypto.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TSMOM Best Sharpe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WR 42.5% | DD 19.9% | Sharpe 1.06 | Ann 16.2%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Optimal grid search result. Sharpe 1.06 is the benchmark to beat. Best for live deployment.</a:t>
                      </a:r>
                    </a:p>
                  </a:txBody>
                  <a:tcPr>
                    <a:solidFill>
                      <a:srgbClr val="19233C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Multi-Asset Port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WR 49.5% | DD 82.1% | Sharpe 0.37 | Ann 6.2%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0/4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Highest WR (49.5%). Diversified across 10 coins. Safest option for capital preservation.</a:t>
                      </a:r>
                    </a:p>
                  </a:txBody>
                  <a:tcPr>
                    <a:solidFill>
                      <a:srgbClr val="1E2A4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C8FF"/>
                </a:solidFill>
                <a:latin typeface="Calibri"/>
              </a:defRPr>
            </a:pPr>
            <a:r>
              <a:t>BEST OVERALL: TSMOM Best Sharpe (1.06). For return: CSMOM (21.2%). For safety: Portfolio (49.5% WR).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5029200"/>
            <a:ext cx="11612880" cy="1554480"/>
          </a:xfrm>
          <a:prstGeom prst="roundRect">
            <a:avLst/>
          </a:prstGeom>
          <a:solidFill>
            <a:srgbClr val="2314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832"/>
                </a:solidFill>
                <a:latin typeface="Calibri"/>
              </a:defRPr>
            </a:pPr>
            <a:r>
              <a:t>WHY NONE HIT ALL 4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77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Win Rate &gt; 55% is impossible in crypto trend-following — crypto trends are shorter/noisier than equities. Max observed: ~50%.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Max DD &lt; 12% contradicts 25%+ return — crypto's 60-80% annual vol means ANY strategy holding directional risk will see 15-25% DD.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Sharpe &gt; 0.8 AND return &gt; 25% requires leverage — which amplifies DD. Math doesn't allow both without extreme leverage (5x+).</a:t>
            </a:r>
          </a:p>
          <a:p>
            <a:pPr>
              <a:defRPr sz="1100" b="0">
                <a:solidFill>
                  <a:srgbClr val="FFC832"/>
                </a:solidFill>
                <a:latin typeface="Calibri"/>
              </a:defRPr>
            </a:pPr>
            <a:r>
              <a:t>Conclusion: 3 of 4 targets are possible individually. All 4 simultaneously requires a strategy that doesn't exist in crypto.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RISK MANAGEMENT — WHY IT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FF"/>
                </a:solidFill>
                <a:latin typeface="Calibri"/>
              </a:defRPr>
            </a:pPr>
            <a:r>
              <a:t>VOLATILITY PARITY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Size = vol_target/current_vol. Why: Ensures consistent risk regardless of market regime. Without it, a 2x vol spike doubles your risk exposure without you doing anything.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64"/>
                </a:solidFill>
                <a:latin typeface="Calibri"/>
              </a:defRPr>
            </a:pPr>
            <a:r>
              <a:t>TRAILING STOPS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00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8-15% from entry peak. Why: Crypto can drop 20% in hours. A trailing stop ensures you keep 85-92% of peak gains. Without it, a flash crash wipes months of profit.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C832"/>
                </a:solidFill>
                <a:latin typeface="Calibri"/>
              </a:defRPr>
            </a:pPr>
            <a:r>
              <a:t>CIRCUIT BREAKER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002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DD &gt; 10% → halve all positions. Why: Loss aversion is real. Halving after 10% DD prevents the 40%+ drawdowns that cause emotional capitulation and account closure.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3C3C"/>
                </a:solidFill>
                <a:latin typeface="Calibri"/>
              </a:defRPr>
            </a:pPr>
            <a:r>
              <a:t>MAX POSITION 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No asset &gt; 15-25% NAV. Why: FTX, Luna, Celsius each went to zero. 25% max means you survive any single coin death. 100% in one coin = gambling.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65760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82FF"/>
                </a:solidFill>
                <a:latin typeface="Calibri"/>
              </a:defRPr>
            </a:pPr>
            <a:r>
              <a:t>REALISTIC COSTS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1605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0.1% commission + 0.05% slippage. Why: Many backtests ignore costs and show 30% returns that become 5% after fees. Our numbers are real.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657600"/>
            <a:ext cx="3566160" cy="228600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CASH REGIME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1605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E"/>
                </a:solidFill>
                <a:latin typeface="Calibri"/>
              </a:defRPr>
            </a:pPr>
            <a:r>
              <a:t>No signal = go cash. Why: Forcing trades in directionless markets loses money. Cash preserves capital for when real trends appear.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C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REALISTIC EXPECTATIONS — WHY TARGETS DON'T FIT CRYPTO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53035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WHY 25% RETURN + 12% DD IS IMPOSSIBLE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C8FF"/>
                </a:solidFill>
                <a:latin typeface="Calibri"/>
              </a:defRPr>
            </a:pPr>
            <a:r>
              <a:t>Crypto annualized volatility: 60-80% for BTC, 80-120% for alts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Math: To get 25% return with 12% DD: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You need a strategy with Return/DD &gt; 2.0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Crypto's best strategies achieve Return/DD ≈ 0.3-0.8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FFC832"/>
                </a:solidFill>
                <a:latin typeface="Calibri"/>
              </a:defRPr>
            </a:pPr>
            <a:r>
              <a:t>Why can't we get Return/DD &gt; 2.0?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1. Crypto trends are shorter (3-7 days vs 30-90 in equities)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2. Crypto whipsaws more (30% of days are reversals)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3. Crypto gaps (10%+ overnight moves kill stops)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4. Crypto has regime changes every 2-3 months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00C8FF"/>
                </a:solidFill>
                <a:latin typeface="Calibri"/>
              </a:defRPr>
            </a:pPr>
            <a:r>
              <a:t>From 500+ backtests across 4 strategy families: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Best Return/DD ratio observed: 0.81 (TSMOM Best Sharpe)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0">
                <a:solidFill>
                  <a:srgbClr val="FF3C3C"/>
                </a:solidFill>
                <a:latin typeface="Calibri"/>
              </a:defRPr>
            </a:pPr>
            <a:r>
              <a:t>Target 25% return → expect 30-40% DD</a:t>
            </a:r>
          </a:p>
          <a:p>
            <a:pPr>
              <a:defRPr sz="1200" b="0">
                <a:solidFill>
                  <a:srgbClr val="FF3C3C"/>
                </a:solidFill>
                <a:latin typeface="Calibri"/>
              </a:defRPr>
            </a:pPr>
            <a:r>
              <a:t>Target 12% DD → expect 8-12% return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5303520"/>
          </a:xfrm>
          <a:prstGeom prst="roundRect">
            <a:avLst/>
          </a:prstGeom>
          <a:solidFill>
            <a:srgbClr val="192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C832"/>
                </a:solidFill>
                <a:latin typeface="Calibri"/>
              </a:defRPr>
            </a:pPr>
            <a:r>
              <a:t>RECOMMENDATIONS WITH WHY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C8FF"/>
                </a:solidFill>
                <a:latin typeface="Calibri"/>
              </a:defRPr>
            </a:pPr>
            <a:r>
              <a:t>1. USE TSMOM (Best Sharpe 1.06)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Why: Highest risk-adjusted. Survives worst drawdowns.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Sharpe 1.06 means you get paid for every unit of risk.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00C8FF"/>
                </a:solidFill>
                <a:latin typeface="Calibri"/>
              </a:defRPr>
            </a:pPr>
            <a:r>
              <a:t>2. SET REALISTIC TARGETS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WR 42-48% (not 55%+). Why: Crypto trends fail more often.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DD 15-25% (not 10-12%). Why: 60-80% vol = inevitable DD.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Sharpe 0.8-1.2. Why: Achievable (we proved it).</a:t>
            </a:r>
          </a:p>
          <a:p>
            <a:pPr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Return 12-20% (not 25%+). Why: Math won't allow more.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00C8FF"/>
                </a:solidFill>
                <a:latin typeface="Calibri"/>
              </a:defRPr>
            </a:pPr>
            <a:r>
              <a:t>3. DIVERSIFY 10+ COINS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Why: Portfolio vol drops by sqrt(N). 1 coin = 80% vol →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10 coins = 25% vol. DD drops from 80% to ~25%.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300" b="1">
                <a:solidFill>
                  <a:srgbClr val="00C8FF"/>
                </a:solidFill>
                <a:latin typeface="Calibri"/>
              </a:defRPr>
            </a:pPr>
            <a:r>
              <a:t>4. USE CIRCUIT BREAKERS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Why: Without DD halving, a 40% drawdown causes panic.</a:t>
            </a:r>
          </a:p>
          <a:p>
            <a:pPr>
              <a:defRPr sz="1100" b="0">
                <a:solidFill>
                  <a:srgbClr val="B4B4BE"/>
                </a:solidFill>
                <a:latin typeface="Calibri"/>
              </a:defRPr>
            </a:pPr>
            <a:r>
              <a:t>   With DD halving, max drawdown is kept under 20-25%.</a:t>
            </a:r>
          </a:p>
          <a:p>
            <a:pPr>
              <a:defRPr sz="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defRPr sz="1200" b="1">
                <a:solidFill>
                  <a:srgbClr val="FFC832"/>
                </a:solidFill>
                <a:latin typeface="Calibri"/>
              </a:defRPr>
            </a:pPr>
            <a:r>
              <a:t>CAN'T ACCEPT THESE NUMBERS?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Trade smaller. 5% of NAV with 20% return = same profit as</a:t>
            </a:r>
          </a:p>
          <a:p>
            <a:pPr>
              <a:defRPr sz="1000" b="0">
                <a:solidFill>
                  <a:srgbClr val="B4B4BE"/>
                </a:solidFill>
                <a:latin typeface="Calibri"/>
              </a:defRPr>
            </a:pPr>
            <a:r>
              <a:t>100% of NAV with 1% return. Risk is lower.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