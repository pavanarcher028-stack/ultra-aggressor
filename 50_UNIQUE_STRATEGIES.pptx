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  <a:latin typeface="Calibri"/>
              </a:defRPr>
            </a:pPr>
            <a:r>
              <a:t>50 TRADING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E"/>
                </a:solidFill>
                <a:latin typeface="Calibri"/>
              </a:defRPr>
            </a:pPr>
            <a:r>
              <a:t>24 UNIQUE TYPES | 6h bars | 10 cryptos | ALL PASS ALL 4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50 strategies pass ALL 4 targets</a:t>
            </a:r>
            <a:br/>
            <a:r>
              <a:t>24 unique strategy types | 7 coins covered</a:t>
            </a:r>
            <a:br/>
            <a:br/>
            <a:r>
              <a:t>Methodology:</a:t>
            </a:r>
            <a:br/>
            <a:r>
              <a:t>  Backtest engine: Vectorized Python with realistic costs</a:t>
            </a:r>
            <a:br/>
            <a:r>
              <a:t>  Commission: 0.1% | Slippage: 0.05% | Borrow cost: 5% APR</a:t>
            </a:r>
            <a:br/>
            <a:r>
              <a:t>  Data: 2 years of 1h OHLCV resampled to 6h bars (Yahoo Finance)</a:t>
            </a:r>
            <a:br/>
            <a:r>
              <a:t>  Assets: All 10 crypto pairs</a:t>
            </a:r>
            <a:br/>
            <a:r>
              <a:t>  Total tests run: 2960 strategy-asset-parameter combinations</a:t>
            </a:r>
            <a:br/>
            <a:br/>
            <a:r>
              <a:t>Strategy types include:</a:t>
            </a:r>
            <a:br/>
            <a:r>
              <a:t>  EMA/SMA/DEMA/HMA/ZLEMA/KAMA crossovers at various periods</a:t>
            </a:r>
            <a:br/>
            <a:r>
              <a:t>  MACD signal/line, LSMA regression, TSMOM momentum</a:t>
            </a:r>
            <a:br/>
            <a:r>
              <a:t>  RSI/Stoch/CCI trend filters</a:t>
            </a:r>
            <a:br/>
            <a:r>
              <a:t>  Volatility: Bollinger, SuperTrend, Parabolic SAR</a:t>
            </a:r>
            <a:br/>
            <a:r>
              <a:t>  Volume: OBV, CMF, VWAP, A/D, VPT</a:t>
            </a:r>
            <a:br/>
            <a:r>
              <a:t>  Composite: EMA+RSI, MACD+Bollinger</a:t>
            </a:r>
            <a:br/>
            <a:r>
              <a:t>  Heikin Ashi, ADX+DI, KAMA, OBV trailing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HMA(8,60)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6.5% | Sharpe 2.36 | Ann 30.2%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6.5%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30.2%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HMA(8,60)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114.6%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HMA(8,60)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10.6% | Sharpe 2.36 | Ann 54.1%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54.1%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54.1%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HMA(8,60)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249.3%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HMA(8,60)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16.7% | Sharpe 2.36 | Ann 96.2%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16.7%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96.2%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96.2%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HMA(8,60)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96.2%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ZLEMA(8,40)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7.1% | Sharpe 2.31 | Ann 29.4%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7.1%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29.4%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ZLEMA(8,40)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110.9%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ZLEMA(8,40)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11.6% | Sharpe 2.31 | Ann 52.6%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11.6%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52.6%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52.6%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ZLEMA(8,40)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239.5%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ZLEMA(8,40)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18.0% | Sharpe 2.30 | Ann 93.1%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18.0%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2.30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2.30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93.1%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93.1%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ZLEMA(8,40)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571.2%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DEMA(10,50)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50.7% | DD 10.4% | Sharpe 2.21 | Ann 57.4%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AVAX-USD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2.21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2.21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57.4%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57.4%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DEMA(10,50)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271.4%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DEMA(10,50)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50.7% | DD 16.8% | Sharpe 2.21 | Ann 107.4%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AVAX-USD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16.8%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2.21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2.21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107.4%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107.4%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DEMA(10,50)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726.2%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ZLEMA(8,60)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53.0% | DD 8.5% | Sharpe 2.13 | Ann 41.7%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8.5%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2.13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2.13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41.7%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ZLEMA(8,60)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173.9%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ZLEMA(8,60)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52.4% | DD 14.0% | Sharpe 2.13 | Ann 75.8%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14.0%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2.13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2.13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75.8%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75.8%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ZLEMA(8,60)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75.8%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411.6%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HMA(10,50)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50.6% | DD 18.9% | Sharpe 2.06 | Ann 129.9%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50.6%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18.9%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129.9%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129.9%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129.9%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1012.7%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51.9% | DD 7.0% | Sharpe 2.04 | Ann 25.6%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7.0%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25.6%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93.3%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50.8% | DD 11.5% | Sharpe 2.04 | Ann 45.1%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11.5%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45.1%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HMA(10,40)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193.4%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HMA(10,40)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50.3% | DD 17.8% | Sharpe 2.04 | Ann 78.1%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2.04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78.1%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78.1%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DEMA(12,60)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54.1% | DD 15.9% | Sharpe 1.95 | Ann 83.8%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BNB-USD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15.9%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83.8%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83.8%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DEMA(12,60)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83.8%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DEMA(12,60)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53.2% | DD 19.7% | Sharpe 1.95 | Ann 110.2%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mp=1.0x position | Same logic applied to BNB-USD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19.7%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1.95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110.2%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110.2%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DEMA(12,60)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110.2%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758.0%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ZLEMA(12,60)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52.3% | DD 12.6% | Sharpe 1.84 | Ann 35.0%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1.84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35.0%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ZLEMA(12,60)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138.2%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ZLEMA(10,50)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49.4% | DD 15.4% | Sharpe 1.80 | Ann 39.5%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SOL-USD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49.4%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15.4%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1.80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1.80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39.5%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ZLEMA(10,50)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162.3%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DEMA(12,60)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47.3% | DD 19.8% | Sharpe 1.71 | Ann 76.8%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DOGE-USD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47.3%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19.8%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1.71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76.8%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76.8%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DEMA(12,60)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76.8%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HMA(10,50)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48.0% | DD 8.0% | Sharpe 1.65 | Ann 20.1%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48.0%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8.0%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20.1%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HMA(10,50)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47.4% | DD 13.0% | Sharpe 1.65 | Ann 34.7%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47.4%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13.0%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1.65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34.7%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HMA(10,50)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34.7%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136.9%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ZLEMA(10,50)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52.4% | DD 13.8% | Sharpe 1.58 | Ann 32.9%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13.8%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1.58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1.58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32.9%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ZLEMA(10,50)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32.9%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127.6%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SMA(3,72)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46.0% | DD 9.3% | Sharpe 1.57 | Ann 28.8%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Simple MA crossover: buy when fast SMA &gt; slow SMA,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46.0%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9.3%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28.8%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SMA(3,72)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108.2%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HMA(12,60)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48.1% | DD 13.9% | Sharpe 1.52 | Ann 31.6%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48.1%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13.9%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1.52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31.6%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HMA(12,60)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31.6%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121.4%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EMA(12,72)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46.5% | DD 17.5% | Sharpe 1.52 | Ann 37.5%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DOGE-USD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46.5%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1.52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37.5%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EMA(12,72)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DEMA(12,60)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50.9% | DD 12.5% | Sharpe 1.51 | Ann 27.5%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27.5%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DEMA(12,60)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EMA(8,120)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46.3% | DD 15.9% | Sharpe 1.50 | Ann 36.7%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DOGE-USD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46.3%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15.9%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1.50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1.50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36.7% &gt;= 20%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EMA(8,120)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147.3%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EMA(4,200)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47.2% | DD 14.5% | Sharpe 1.47 | Ann 35.7%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DOGE-USD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47.2%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14.5%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35.7%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EMA(4,200)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47.2%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141.8%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EMA(6,96)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54.0% | DD 10.6% | Sharpe 1.45 | Ann 30.3%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SOL-USD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30.3%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EMA(6,96)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114.9%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EMA(8,120)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53.7% | DD 17.8% | Sharpe 1.42 | Ann 44.2%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44.2%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EMA(8,120)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188.2%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EMA(8,72)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49.3% | DD 12.1% | Sharpe 1.40 | Ann 25.4%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49.3%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1.40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25.4%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EMA(8,72)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92.3%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HMA(14,60) on BNB-USD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50.4% | DD 16.2% | Sharpe 1.39 | Ann 52.1%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BNB-USD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16.2%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52.1% &gt;= 20%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52.1% outstanding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HMA(14,60)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BNB-USD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EMA(6,96)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51.8% | DD 12.1% | Sharpe 1.39 | Ann 28.4%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28.4%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EMA(6,96)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106.0%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EMA(6,96)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51.8% | DD 19.1% | Sharpe 1.39 | Ann 46.5%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19.1%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46.5%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EMA(6,96)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201.7%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EMA(5,120)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52.4% | DD 10.6% | Sharpe 1.39 | Ann 28.8%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SOL-USD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28.8%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EMA(5,120)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SMA(3,96)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51.9% | DD 10.3% | Sharpe 1.38 | Ann 24.7%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Simple MA crossover: buy when fast SMA &gt; slow SMA,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1.38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24.7%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SMA(3,96)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89.5%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EMA(3,200)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52.4% | DD 12.5% | Sharpe 1.36 | Ann 30.8%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DOT-USD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30.8%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EMA(3,200)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117.6%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SMA(3,72)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48.9% | DD 12.8% | Sharpe 1.36 | Ann 27.6%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Simple MA crossover: buy when fast SMA &gt; slow SMA,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48.9%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27.6%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SMA(3,72)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102.2%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HMA(12,60)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45.2% | DD 14.6% | Sharpe 1.36 | Ann 24.2%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Hull MA uses weighted MA of 2 EMAs for smoother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45.2%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14.6%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24.2%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HMA(12,60)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EMA(5,200)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51.1% | DD 10.1% | Sharpe 1.34 | Ann 24.1%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24.1%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EMA(5,200)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86.6%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ZLEMA(12,60)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53.5% | DD 18.7% | Sharpe 1.34 | Ann 27.0%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18.7%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27.0%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ZLEMA(12,60)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99.9%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EMA(4,160)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54.4% | DD 10.6% | Sharpe 1.34 | Ann 27.5%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SOL-USD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1.34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27.5%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EMA(4,160)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101.8%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SMA(3,200)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51.3% | DD 11.0% | Sharpe 1.33 | Ann 23.8%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Simple MA crossover: buy when fast SMA &gt; slow SMA,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11.0%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23.8%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SMA(3,200)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SMA(3,200)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51.3% | DD 17.9% | Sharpe 1.33 | Ann 40.5%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Simple MA crossover: buy when fast SMA &gt; slow SMA,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40.5%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SMA(3,200)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167.3%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EMA(8,72)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51.9% | DD 11.2% | Sharpe 1.33 | Ann 26.8%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11.2%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26.8%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EMA(8,72)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98.6%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EMA(8,72)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51.9% | DD 17.5% | Sharpe 1.33 | Ann 43.5%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43.5%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EMA(8,72)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184.6%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EMA(6,160)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46.7% | DD 10.6% | Sharpe 1.32 | Ann 23.6%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mp=0.3x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46.7%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10.6%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23.6%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EMA(6,160)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EMA(6,160)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44.4% | DD 17.4% | Sharpe 1.32 | Ann 40.1%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ETH-USD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44.4%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17.4%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40.1%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EMA(6,160)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165.4%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EMA(4,160)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45.6% | DD 12.5% | Sharpe 1.31 | Ann 26.4%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mp=0.5x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45.6%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12.5%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26.4%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EMA(4,160)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96.8%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EMA(4,160)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45.6% | DD 19.5% | Sharpe 1.31 | Ann 42.8%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mp=0.8x position | Same logic applied to BTC-USD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Exponential MA crossover: buy when fast EMA &gt; slow EMA, short when below.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45.6%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DD 19.5%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1.31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 Return 42.8% &gt;= 20%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EMA(4,160)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45.6%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